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32"/>
  </p:notesMasterIdLst>
  <p:sldIdLst>
    <p:sldId id="269" r:id="rId2"/>
    <p:sldId id="271" r:id="rId3"/>
    <p:sldId id="272" r:id="rId4"/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73" r:id="rId16"/>
    <p:sldId id="274" r:id="rId17"/>
    <p:sldId id="275" r:id="rId18"/>
    <p:sldId id="276" r:id="rId19"/>
    <p:sldId id="277" r:id="rId20"/>
    <p:sldId id="278" r:id="rId21"/>
    <p:sldId id="279" r:id="rId22"/>
    <p:sldId id="280" r:id="rId23"/>
    <p:sldId id="281" r:id="rId24"/>
    <p:sldId id="282" r:id="rId25"/>
    <p:sldId id="283" r:id="rId26"/>
    <p:sldId id="284" r:id="rId27"/>
    <p:sldId id="285" r:id="rId28"/>
    <p:sldId id="286" r:id="rId29"/>
    <p:sldId id="267" r:id="rId30"/>
    <p:sldId id="268" r:id="rId31"/>
  </p:sldIdLst>
  <p:sldSz cx="12192000" cy="6858000"/>
  <p:notesSz cx="6858000" cy="9144000"/>
  <p:embeddedFontLst>
    <p:embeddedFont>
      <p:font typeface="Bahnschrift SemiBold SemiConden" panose="020B0502040204020203" pitchFamily="34" charset="0"/>
      <p:bold r:id="rId33"/>
    </p:embeddedFont>
    <p:embeddedFont>
      <p:font typeface="Baskerville Old Face" panose="02020602080505020303" pitchFamily="18" charset="0"/>
      <p:regular r:id="rId34"/>
    </p:embeddedFont>
    <p:embeddedFont>
      <p:font typeface="DM Sans" pitchFamily="2" charset="0"/>
      <p:regular r:id="rId35"/>
      <p:bold r:id="rId36"/>
      <p:italic r:id="rId37"/>
      <p:boldItalic r:id="rId38"/>
    </p:embeddedFont>
    <p:embeddedFont>
      <p:font typeface="Lato" panose="020F0502020204030203" pitchFamily="34" charset="0"/>
      <p:regular r:id="rId39"/>
      <p:bold r:id="rId40"/>
      <p:italic r:id="rId41"/>
      <p:boldItalic r:id="rId42"/>
    </p:embeddedFont>
    <p:embeddedFont>
      <p:font typeface="Lato Light" panose="020F0502020204030203" pitchFamily="34" charset="0"/>
      <p:regular r:id="rId43"/>
      <p:bold r:id="rId44"/>
      <p:italic r:id="rId45"/>
      <p:boldItalic r:id="rId46"/>
    </p:embeddedFont>
    <p:embeddedFont>
      <p:font typeface="Merriweather" panose="00000500000000000000" pitchFamily="2" charset="0"/>
      <p:regular r:id="rId47"/>
      <p:bold r:id="rId48"/>
      <p:italic r:id="rId49"/>
      <p:boldItalic r:id="rId50"/>
    </p:embeddedFont>
    <p:embeddedFont>
      <p:font typeface="Merriweather Light" panose="00000400000000000000" pitchFamily="2" charset="0"/>
      <p:regular r:id="rId51"/>
      <p:bold r:id="rId52"/>
      <p:italic r:id="rId53"/>
      <p:boldItalic r:id="rId54"/>
    </p:embeddedFont>
    <p:embeddedFont>
      <p:font typeface="Poppins" panose="00000500000000000000" pitchFamily="2" charset="0"/>
      <p:regular r:id="rId55"/>
      <p:bold r:id="rId56"/>
      <p:italic r:id="rId57"/>
      <p:boldItalic r:id="rId58"/>
    </p:embeddedFont>
    <p:embeddedFont>
      <p:font typeface="Poppins Medium" panose="00000600000000000000" pitchFamily="2" charset="0"/>
      <p:regular r:id="rId59"/>
      <p:italic r:id="rId6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728B5F47-A9B7-4DA7-9DFC-53A668DDD067}">
  <a:tblStyle styleId="{728B5F47-A9B7-4DA7-9DFC-53A668DDD067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tcBdr/>
        <a:fill>
          <a:solidFill>
            <a:srgbClr val="CFD7E7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FD7E7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6" d="100"/>
          <a:sy n="96" d="100"/>
        </p:scale>
        <p:origin x="149" y="77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7.fntdata"/><Relationship Id="rId21" Type="http://schemas.openxmlformats.org/officeDocument/2006/relationships/slide" Target="slides/slide20.xml"/><Relationship Id="rId34" Type="http://schemas.openxmlformats.org/officeDocument/2006/relationships/font" Target="fonts/font2.fntdata"/><Relationship Id="rId42" Type="http://schemas.openxmlformats.org/officeDocument/2006/relationships/font" Target="fonts/font10.fntdata"/><Relationship Id="rId47" Type="http://schemas.openxmlformats.org/officeDocument/2006/relationships/font" Target="fonts/font15.fntdata"/><Relationship Id="rId50" Type="http://schemas.openxmlformats.org/officeDocument/2006/relationships/font" Target="fonts/font18.fntdata"/><Relationship Id="rId55" Type="http://schemas.openxmlformats.org/officeDocument/2006/relationships/font" Target="fonts/font23.fntdata"/><Relationship Id="rId63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37" Type="http://schemas.openxmlformats.org/officeDocument/2006/relationships/font" Target="fonts/font5.fntdata"/><Relationship Id="rId40" Type="http://schemas.openxmlformats.org/officeDocument/2006/relationships/font" Target="fonts/font8.fntdata"/><Relationship Id="rId45" Type="http://schemas.openxmlformats.org/officeDocument/2006/relationships/font" Target="fonts/font13.fntdata"/><Relationship Id="rId53" Type="http://schemas.openxmlformats.org/officeDocument/2006/relationships/font" Target="fonts/font21.fntdata"/><Relationship Id="rId58" Type="http://schemas.openxmlformats.org/officeDocument/2006/relationships/font" Target="fonts/font26.fntdata"/><Relationship Id="rId5" Type="http://schemas.openxmlformats.org/officeDocument/2006/relationships/slide" Target="slides/slide4.xml"/><Relationship Id="rId61" Type="http://schemas.openxmlformats.org/officeDocument/2006/relationships/presProps" Target="presProp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font" Target="fonts/font3.fntdata"/><Relationship Id="rId43" Type="http://schemas.openxmlformats.org/officeDocument/2006/relationships/font" Target="fonts/font11.fntdata"/><Relationship Id="rId48" Type="http://schemas.openxmlformats.org/officeDocument/2006/relationships/font" Target="fonts/font16.fntdata"/><Relationship Id="rId56" Type="http://schemas.openxmlformats.org/officeDocument/2006/relationships/font" Target="fonts/font24.fntdata"/><Relationship Id="rId64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font" Target="fonts/font19.fntdata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1.fntdata"/><Relationship Id="rId38" Type="http://schemas.openxmlformats.org/officeDocument/2006/relationships/font" Target="fonts/font6.fntdata"/><Relationship Id="rId46" Type="http://schemas.openxmlformats.org/officeDocument/2006/relationships/font" Target="fonts/font14.fntdata"/><Relationship Id="rId59" Type="http://schemas.openxmlformats.org/officeDocument/2006/relationships/font" Target="fonts/font27.fntdata"/><Relationship Id="rId20" Type="http://schemas.openxmlformats.org/officeDocument/2006/relationships/slide" Target="slides/slide19.xml"/><Relationship Id="rId41" Type="http://schemas.openxmlformats.org/officeDocument/2006/relationships/font" Target="fonts/font9.fntdata"/><Relationship Id="rId54" Type="http://schemas.openxmlformats.org/officeDocument/2006/relationships/font" Target="fonts/font22.fntdata"/><Relationship Id="rId62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4.fntdata"/><Relationship Id="rId49" Type="http://schemas.openxmlformats.org/officeDocument/2006/relationships/font" Target="fonts/font17.fntdata"/><Relationship Id="rId57" Type="http://schemas.openxmlformats.org/officeDocument/2006/relationships/font" Target="fonts/font25.fntdata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font" Target="fonts/font12.fntdata"/><Relationship Id="rId52" Type="http://schemas.openxmlformats.org/officeDocument/2006/relationships/font" Target="fonts/font20.fntdata"/><Relationship Id="rId60" Type="http://schemas.openxmlformats.org/officeDocument/2006/relationships/font" Target="fonts/font28.fntdata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" name="Google Shape;91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8" name="Google Shape;118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6" name="Google Shape;136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3" name="Google Shape;143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4" name="Google Shape;154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6" name="Google Shape;166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8" name="Google Shape;178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5" name="Google Shape;185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1" name="Google Shape;211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" name="Google Shape;9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" name="Google Shape;98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4" name="Google Shape;124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9" name="Google Shape;139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3ecebc13300_1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5" name="Google Shape;155;g3ecebc13300_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3ecebc13300_1_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0" name="Google Shape;170;g3ecebc13300_1_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3ecebc13300_1_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5" name="Google Shape;185;g3ecebc13300_1_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5" name="Google Shape;195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7" name="Google Shape;207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6" name="Google Shape;226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4" name="Google Shape;234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6" name="Google Shape;256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5" name="Google Shape;265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7" name="Google Shape;227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6" name="Google Shape;236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Relationship Id="rId9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image" Target="../media/image32.png"/><Relationship Id="rId7" Type="http://schemas.openxmlformats.org/officeDocument/2006/relationships/image" Target="../media/image36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5.png"/><Relationship Id="rId5" Type="http://schemas.openxmlformats.org/officeDocument/2006/relationships/image" Target="../media/image34.png"/><Relationship Id="rId4" Type="http://schemas.openxmlformats.org/officeDocument/2006/relationships/image" Target="../media/image33.png"/><Relationship Id="rId9" Type="http://schemas.openxmlformats.org/officeDocument/2006/relationships/image" Target="../media/image37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0.png"/><Relationship Id="rId4" Type="http://schemas.openxmlformats.org/officeDocument/2006/relationships/image" Target="../media/image2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image" Target="../media/image42.png"/><Relationship Id="rId4" Type="http://schemas.openxmlformats.org/officeDocument/2006/relationships/image" Target="../media/image41.pn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7.png"/><Relationship Id="rId3" Type="http://schemas.openxmlformats.org/officeDocument/2006/relationships/image" Target="../media/image27.png"/><Relationship Id="rId7" Type="http://schemas.openxmlformats.org/officeDocument/2006/relationships/image" Target="../media/image46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5.png"/><Relationship Id="rId5" Type="http://schemas.openxmlformats.org/officeDocument/2006/relationships/image" Target="../media/image44.png"/><Relationship Id="rId10" Type="http://schemas.openxmlformats.org/officeDocument/2006/relationships/image" Target="../media/image2.png"/><Relationship Id="rId4" Type="http://schemas.openxmlformats.org/officeDocument/2006/relationships/image" Target="../media/image43.png"/><Relationship Id="rId9" Type="http://schemas.openxmlformats.org/officeDocument/2006/relationships/image" Target="../media/image48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49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0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54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3.png"/><Relationship Id="rId5" Type="http://schemas.openxmlformats.org/officeDocument/2006/relationships/image" Target="../media/image52.png"/><Relationship Id="rId4" Type="http://schemas.openxmlformats.org/officeDocument/2006/relationships/image" Target="../media/image5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A0F4B2E8-146C-951F-096A-5B85049AF3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13816" y="0"/>
            <a:ext cx="12305816" cy="692446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A139160-4F28-82E6-8991-17C1D609842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80572" y="510159"/>
            <a:ext cx="7772400" cy="1470025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Introduction to Bioinformatics for Life Sciences</a:t>
            </a:r>
            <a:br>
              <a:rPr lang="en-US" b="1" dirty="0">
                <a:solidFill>
                  <a:schemeClr val="bg1"/>
                </a:solidFill>
              </a:rPr>
            </a:b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56B8EFA-152E-123E-0953-EE8CCD1F2F0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84707" y="2241937"/>
            <a:ext cx="6400800" cy="1752600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FFFF00"/>
                </a:solidFill>
              </a:rPr>
              <a:t>Role of Computational Biology in Modern Research</a:t>
            </a:r>
          </a:p>
          <a:p>
            <a:r>
              <a:rPr lang="en-US" b="1" dirty="0">
                <a:solidFill>
                  <a:srgbClr val="FFFF00"/>
                </a:solidFill>
              </a:rPr>
              <a:t>Hosted by </a:t>
            </a:r>
            <a:r>
              <a:rPr lang="en-US" b="1" dirty="0" err="1">
                <a:solidFill>
                  <a:srgbClr val="FFFF00"/>
                </a:solidFill>
              </a:rPr>
              <a:t>Shivani_Bioinfo</a:t>
            </a:r>
            <a:endParaRPr lang="en-US" dirty="0">
              <a:solidFill>
                <a:srgbClr val="FFFF00"/>
              </a:solidFill>
            </a:endParaRPr>
          </a:p>
          <a:p>
            <a:endParaRPr lang="en-US" dirty="0">
              <a:solidFill>
                <a:srgbClr val="FFFF00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B455A5A-73DA-994B-DFA2-72527DA0EC0F}"/>
              </a:ext>
            </a:extLst>
          </p:cNvPr>
          <p:cNvSpPr txBox="1"/>
          <p:nvPr/>
        </p:nvSpPr>
        <p:spPr>
          <a:xfrm>
            <a:off x="9284797" y="5449993"/>
            <a:ext cx="2842165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 err="1">
                <a:solidFill>
                  <a:schemeClr val="bg1"/>
                </a:solidFill>
              </a:rPr>
              <a:t>Presentor</a:t>
            </a:r>
            <a:r>
              <a:rPr lang="en-US" b="1" dirty="0">
                <a:solidFill>
                  <a:schemeClr val="bg1"/>
                </a:solidFill>
              </a:rPr>
              <a:t>: Shivani V. Pawar</a:t>
            </a:r>
            <a:br>
              <a:rPr lang="en-US" dirty="0">
                <a:solidFill>
                  <a:schemeClr val="bg1"/>
                </a:solidFill>
              </a:rPr>
            </a:br>
            <a:r>
              <a:rPr lang="en-US" dirty="0">
                <a:solidFill>
                  <a:schemeClr val="bg1"/>
                </a:solidFill>
              </a:rPr>
              <a:t>Bioinformatics Researcher | Computational Biologist | Founder, </a:t>
            </a:r>
            <a:r>
              <a:rPr lang="en-US" dirty="0" err="1">
                <a:solidFill>
                  <a:schemeClr val="bg1"/>
                </a:solidFill>
              </a:rPr>
              <a:t>Bioinfo_Shivani</a:t>
            </a:r>
            <a:endParaRPr lang="en-US" dirty="0">
              <a:solidFill>
                <a:schemeClr val="bg1"/>
              </a:solidFill>
            </a:endParaRPr>
          </a:p>
          <a:p>
            <a:pPr algn="ctr"/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5933BC5-BC91-6270-25A1-B762E8D6DD65}"/>
              </a:ext>
            </a:extLst>
          </p:cNvPr>
          <p:cNvSpPr txBox="1"/>
          <p:nvPr/>
        </p:nvSpPr>
        <p:spPr>
          <a:xfrm>
            <a:off x="65038" y="6034769"/>
            <a:ext cx="1715534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📅 6 June 2026</a:t>
            </a:r>
            <a:br>
              <a:rPr lang="en-US" dirty="0">
                <a:solidFill>
                  <a:schemeClr val="bg1"/>
                </a:solidFill>
              </a:rPr>
            </a:br>
            <a:r>
              <a:rPr lang="en-US" dirty="0">
                <a:solidFill>
                  <a:schemeClr val="bg1"/>
                </a:solidFill>
              </a:rPr>
              <a:t>🕒 7:00 PM IST</a:t>
            </a:r>
            <a:br>
              <a:rPr lang="en-US" dirty="0">
                <a:solidFill>
                  <a:schemeClr val="bg1"/>
                </a:solidFill>
              </a:rPr>
            </a:br>
            <a:r>
              <a:rPr lang="en-US" dirty="0">
                <a:solidFill>
                  <a:schemeClr val="bg1"/>
                </a:solidFill>
              </a:rPr>
              <a:t>💻 Online Webinar</a:t>
            </a:r>
          </a:p>
          <a:p>
            <a:endParaRPr lang="en-US" dirty="0"/>
          </a:p>
        </p:txBody>
      </p:sp>
      <p:pic>
        <p:nvPicPr>
          <p:cNvPr id="9" name="Picture 2" descr="bioinfo//shivani">
            <a:extLst>
              <a:ext uri="{FF2B5EF4-FFF2-40B4-BE49-F238E27FC236}">
                <a16:creationId xmlns:a16="http://schemas.microsoft.com/office/drawing/2014/main" id="{239EF6FA-F5AA-FD79-71EB-746792E8D6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82271" y="199754"/>
            <a:ext cx="1780430" cy="17804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960146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45EFD9-6980-9CEF-9071-6C309F31FD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341" y="393907"/>
            <a:ext cx="9799983" cy="1143000"/>
          </a:xfrm>
        </p:spPr>
        <p:txBody>
          <a:bodyPr/>
          <a:lstStyle/>
          <a:p>
            <a:r>
              <a:rPr lang="en-US" dirty="0">
                <a:latin typeface="Bahnschrift SemiBold SemiConden" panose="020B0502040204020203" pitchFamily="34" charset="0"/>
              </a:rPr>
              <a:t>Welcome to </a:t>
            </a:r>
            <a:r>
              <a:rPr lang="en-US" dirty="0" err="1">
                <a:latin typeface="Bahnschrift SemiBold SemiConden" panose="020B0502040204020203" pitchFamily="34" charset="0"/>
              </a:rPr>
              <a:t>Shivani_Bioinfo</a:t>
            </a:r>
            <a:endParaRPr lang="en-US" dirty="0">
              <a:latin typeface="Bahnschrift SemiBold SemiConden" panose="020B0502040204020203" pitchFamily="34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E7AC41C-DAC0-6E18-AEE5-B94A39EAA3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6627" y="2045473"/>
            <a:ext cx="10595113" cy="4525963"/>
          </a:xfrm>
        </p:spPr>
        <p:txBody>
          <a:bodyPr>
            <a:normAutofit/>
          </a:bodyPr>
          <a:lstStyle/>
          <a:p>
            <a:r>
              <a:rPr lang="en-US" sz="2000" dirty="0" err="1">
                <a:latin typeface="Baskerville Old Face" panose="02020602080505020303" pitchFamily="18" charset="0"/>
              </a:rPr>
              <a:t>Bioinfo_Shivani</a:t>
            </a:r>
            <a:r>
              <a:rPr lang="en-US" sz="2000" dirty="0">
                <a:latin typeface="Baskerville Old Face" panose="02020602080505020303" pitchFamily="18" charset="0"/>
              </a:rPr>
              <a:t> was created with the vision of making bioinformatics accessible, practical, and impactful for students, researchers, and professionals.</a:t>
            </a:r>
          </a:p>
          <a:p>
            <a:endParaRPr lang="en-US" sz="2000" dirty="0">
              <a:latin typeface="Baskerville Old Face" panose="02020602080505020303" pitchFamily="18" charset="0"/>
            </a:endParaRPr>
          </a:p>
          <a:p>
            <a:r>
              <a:rPr lang="en-US" sz="2000" dirty="0">
                <a:latin typeface="Baskerville Old Face" panose="02020602080505020303" pitchFamily="18" charset="0"/>
              </a:rPr>
              <a:t>The platform focuses on:</a:t>
            </a:r>
          </a:p>
          <a:p>
            <a:r>
              <a:rPr lang="en-US" sz="2000" dirty="0">
                <a:latin typeface="Baskerville Old Face" panose="02020602080505020303" pitchFamily="18" charset="0"/>
              </a:rPr>
              <a:t>✅ Bioinformatics education and training</a:t>
            </a:r>
          </a:p>
          <a:p>
            <a:r>
              <a:rPr lang="en-US" sz="2000" dirty="0">
                <a:latin typeface="Baskerville Old Face" panose="02020602080505020303" pitchFamily="18" charset="0"/>
              </a:rPr>
              <a:t>✅ Research guidance and mentorship</a:t>
            </a:r>
          </a:p>
          <a:p>
            <a:r>
              <a:rPr lang="en-US" sz="2000" dirty="0">
                <a:latin typeface="Baskerville Old Face" panose="02020602080505020303" pitchFamily="18" charset="0"/>
              </a:rPr>
              <a:t>✅ Workshops and webinars</a:t>
            </a:r>
          </a:p>
          <a:p>
            <a:r>
              <a:rPr lang="en-US" sz="2000" dirty="0">
                <a:latin typeface="Baskerville Old Face" panose="02020602080505020303" pitchFamily="18" charset="0"/>
              </a:rPr>
              <a:t>✅ Career development in computational biology</a:t>
            </a:r>
          </a:p>
          <a:p>
            <a:r>
              <a:rPr lang="en-US" sz="2000" dirty="0">
                <a:latin typeface="Baskerville Old Face" panose="02020602080505020303" pitchFamily="18" charset="0"/>
              </a:rPr>
              <a:t>✅ Building a collaborative scientific community</a:t>
            </a:r>
          </a:p>
          <a:p>
            <a:endParaRPr lang="en-US" sz="2000" dirty="0">
              <a:latin typeface="Baskerville Old Face" panose="02020602080505020303" pitchFamily="18" charset="0"/>
            </a:endParaRPr>
          </a:p>
        </p:txBody>
      </p:sp>
      <p:pic>
        <p:nvPicPr>
          <p:cNvPr id="2050" name="Picture 2" descr="bioinfo//shivani">
            <a:extLst>
              <a:ext uri="{FF2B5EF4-FFF2-40B4-BE49-F238E27FC236}">
                <a16:creationId xmlns:a16="http://schemas.microsoft.com/office/drawing/2014/main" id="{9A47ADE5-148F-23B2-F712-33943C8A97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17109" y="153710"/>
            <a:ext cx="1780430" cy="17804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CCFE220-179A-BE5D-4935-70EC7D21AB8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0753" r="11995"/>
          <a:stretch>
            <a:fillRect/>
          </a:stretch>
        </p:blipFill>
        <p:spPr>
          <a:xfrm>
            <a:off x="6495920" y="2817584"/>
            <a:ext cx="5298065" cy="29817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99013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4260D0D4-7EA2-6AB3-00F7-85578DC89BDB}"/>
              </a:ext>
            </a:extLst>
          </p:cNvPr>
          <p:cNvSpPr txBox="1">
            <a:spLocks/>
          </p:cNvSpPr>
          <p:nvPr/>
        </p:nvSpPr>
        <p:spPr>
          <a:xfrm>
            <a:off x="3005593" y="375345"/>
            <a:ext cx="7609398" cy="401223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sz="4000" dirty="0"/>
              <a:t>Welcome to </a:t>
            </a:r>
            <a:r>
              <a:rPr lang="en-US" sz="4000" dirty="0" err="1"/>
              <a:t>Shivani_Bioinfo</a:t>
            </a:r>
            <a:endParaRPr lang="en-US" sz="4000" dirty="0"/>
          </a:p>
        </p:txBody>
      </p:sp>
      <p:pic>
        <p:nvPicPr>
          <p:cNvPr id="5" name="Picture 2" descr="bioinfo//shivani">
            <a:extLst>
              <a:ext uri="{FF2B5EF4-FFF2-40B4-BE49-F238E27FC236}">
                <a16:creationId xmlns:a16="http://schemas.microsoft.com/office/drawing/2014/main" id="{002DD4EE-9DE7-C5F6-3DC3-DBEC83D0F3F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42828" y="225271"/>
            <a:ext cx="1780430" cy="17804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F827780-20B6-0E0D-DC64-58CA7465D4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81423" y="1361990"/>
            <a:ext cx="8340918" cy="5021150"/>
          </a:xfrm>
          <a:prstGeom prst="rect">
            <a:avLst/>
          </a:prstGeom>
        </p:spPr>
      </p:pic>
      <p:pic>
        <p:nvPicPr>
          <p:cNvPr id="6" name="Picture 2" descr="TIBR Biotech Private Limited">
            <a:extLst>
              <a:ext uri="{FF2B5EF4-FFF2-40B4-BE49-F238E27FC236}">
                <a16:creationId xmlns:a16="http://schemas.microsoft.com/office/drawing/2014/main" id="{1EAEA878-05D7-DAB6-9B0E-D8B759C7F73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375346"/>
            <a:ext cx="2512612" cy="12563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266823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92F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295275" y="2134492"/>
            <a:ext cx="11601450" cy="9600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998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300" b="1" i="0" u="none" strike="noStrike" cap="none">
                <a:solidFill>
                  <a:srgbClr val="64FFDA"/>
                </a:solidFill>
                <a:latin typeface="Merriweather"/>
                <a:ea typeface="Merriweather"/>
                <a:cs typeface="Merriweather"/>
                <a:sym typeface="Merriweather"/>
              </a:rPr>
              <a:t>Bioinformatics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571500" y="3237458"/>
            <a:ext cx="110490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64FFDA"/>
                </a:solidFill>
                <a:latin typeface="Merriweather Light"/>
                <a:ea typeface="Merriweather Light"/>
                <a:cs typeface="Merriweather Light"/>
                <a:sym typeface="Merriweather Light"/>
              </a:rPr>
              <a:t>The Computational Architecture of Biological Systems</a:t>
            </a:r>
            <a:endParaRPr/>
          </a:p>
        </p:txBody>
      </p:sp>
      <p:sp>
        <p:nvSpPr>
          <p:cNvPr id="87" name="Google Shape;87;p13"/>
          <p:cNvSpPr/>
          <p:nvPr/>
        </p:nvSpPr>
        <p:spPr>
          <a:xfrm>
            <a:off x="5619750" y="3961358"/>
            <a:ext cx="952500" cy="38100"/>
          </a:xfrm>
          <a:prstGeom prst="rect">
            <a:avLst/>
          </a:prstGeom>
          <a:solidFill>
            <a:srgbClr val="64FFD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13"/>
          <p:cNvSpPr txBox="1"/>
          <p:nvPr/>
        </p:nvSpPr>
        <p:spPr>
          <a:xfrm>
            <a:off x="571500" y="4380458"/>
            <a:ext cx="110490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8892B0"/>
                </a:solidFill>
                <a:latin typeface="Lato"/>
                <a:ea typeface="Lato"/>
                <a:cs typeface="Lato"/>
                <a:sym typeface="Lato"/>
              </a:rPr>
              <a:t>SYNTHESIZED TECHNICAL OVERVIEW</a:t>
            </a:r>
            <a:endParaRPr/>
          </a:p>
        </p:txBody>
      </p:sp>
      <p:pic>
        <p:nvPicPr>
          <p:cNvPr id="2" name="Picture 2" descr="bioinfo//shivani">
            <a:extLst>
              <a:ext uri="{FF2B5EF4-FFF2-40B4-BE49-F238E27FC236}">
                <a16:creationId xmlns:a16="http://schemas.microsoft.com/office/drawing/2014/main" id="{FC04BC17-7CDB-F373-D782-B1679918E58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16295" y="211186"/>
            <a:ext cx="1780430" cy="17804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92F"/>
        </a:solidFill>
        <a:effectLst/>
      </p:bgPr>
    </p:bg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" name="Google Shape;93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4"/>
          <p:cNvSpPr txBox="1"/>
          <p:nvPr/>
        </p:nvSpPr>
        <p:spPr>
          <a:xfrm>
            <a:off x="3565683" y="2647950"/>
            <a:ext cx="5060632" cy="8863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997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b="1" i="0" u="none" strike="noStrike" cap="none" dirty="0">
                <a:solidFill>
                  <a:srgbClr val="CCD6F6"/>
                </a:solidFill>
                <a:latin typeface="Merriweather"/>
                <a:ea typeface="Merriweather"/>
                <a:cs typeface="Merriweather"/>
                <a:sym typeface="Merriweather"/>
              </a:rPr>
              <a:t>Module </a:t>
            </a:r>
            <a:endParaRPr dirty="0"/>
          </a:p>
        </p:txBody>
      </p:sp>
      <p:sp>
        <p:nvSpPr>
          <p:cNvPr id="95" name="Google Shape;95;p14"/>
          <p:cNvSpPr txBox="1"/>
          <p:nvPr/>
        </p:nvSpPr>
        <p:spPr>
          <a:xfrm>
            <a:off x="3565683" y="3379440"/>
            <a:ext cx="5060632" cy="411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0" i="0" u="none" strike="noStrike" cap="none">
                <a:solidFill>
                  <a:srgbClr val="64FFDA"/>
                </a:solidFill>
                <a:latin typeface="Lato Light"/>
                <a:ea typeface="Lato Light"/>
                <a:cs typeface="Lato Light"/>
                <a:sym typeface="Lato Light"/>
              </a:rPr>
              <a:t>Fundamentals &amp; Core Definitions</a:t>
            </a:r>
            <a:endParaRPr/>
          </a:p>
        </p:txBody>
      </p:sp>
      <p:sp>
        <p:nvSpPr>
          <p:cNvPr id="96" name="Google Shape;96;p14"/>
          <p:cNvSpPr/>
          <p:nvPr/>
        </p:nvSpPr>
        <p:spPr>
          <a:xfrm>
            <a:off x="4667250" y="4171801"/>
            <a:ext cx="2857500" cy="9525"/>
          </a:xfrm>
          <a:prstGeom prst="rect">
            <a:avLst/>
          </a:prstGeom>
          <a:solidFill>
            <a:srgbClr val="23355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" name="Picture 2" descr="bioinfo//shivani">
            <a:extLst>
              <a:ext uri="{FF2B5EF4-FFF2-40B4-BE49-F238E27FC236}">
                <a16:creationId xmlns:a16="http://schemas.microsoft.com/office/drawing/2014/main" id="{DD87E9DB-5669-1597-C910-C613D1825EE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63314" y="169613"/>
            <a:ext cx="1780430" cy="17804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92F"/>
        </a:solidFill>
        <a:effectLst/>
      </p:bgPr>
    </p:bg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1" name="Google Shape;101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" name="Google Shape;102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324992"/>
            <a:ext cx="3529012" cy="326886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" name="Google Shape;103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86262" y="2324992"/>
            <a:ext cx="3329285" cy="326886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" name="Google Shape;104;p1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001297" y="2324992"/>
            <a:ext cx="3619202" cy="326886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5"/>
          <p:cNvSpPr txBox="1"/>
          <p:nvPr/>
        </p:nvSpPr>
        <p:spPr>
          <a:xfrm>
            <a:off x="914400" y="3401317"/>
            <a:ext cx="2985373" cy="3199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64FFDA"/>
                </a:solidFill>
                <a:latin typeface="Merriweather"/>
                <a:ea typeface="Merriweather"/>
                <a:cs typeface="Merriweather"/>
                <a:sym typeface="Merriweather"/>
              </a:rPr>
              <a:t>Biological Inquiry</a:t>
            </a:r>
            <a:endParaRPr/>
          </a:p>
        </p:txBody>
      </p:sp>
      <p:sp>
        <p:nvSpPr>
          <p:cNvPr id="106" name="Google Shape;106;p15"/>
          <p:cNvSpPr txBox="1"/>
          <p:nvPr/>
        </p:nvSpPr>
        <p:spPr>
          <a:xfrm>
            <a:off x="914400" y="3864173"/>
            <a:ext cx="2843212" cy="95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8892B0"/>
                </a:solidFill>
                <a:latin typeface="Lato Light"/>
                <a:ea typeface="Lato Light"/>
                <a:cs typeface="Lato Light"/>
                <a:sym typeface="Lato Light"/>
              </a:rPr>
              <a:t>Decoding the </a:t>
            </a:r>
            <a:r>
              <a:rPr lang="en-US" sz="1500" b="0" i="0" u="none" strike="noStrike" cap="none">
                <a:solidFill>
                  <a:srgbClr val="CCD6F6"/>
                </a:solidFill>
                <a:latin typeface="Lato"/>
                <a:ea typeface="Lato"/>
                <a:cs typeface="Lato"/>
                <a:sym typeface="Lato"/>
              </a:rPr>
              <a:t>Central Dogma</a:t>
            </a:r>
            <a:r>
              <a:rPr lang="en-US" sz="1500" b="0" i="0" u="none" strike="noStrike" cap="none">
                <a:solidFill>
                  <a:srgbClr val="8892B0"/>
                </a:solidFill>
                <a:latin typeface="Lato Light"/>
                <a:ea typeface="Lato Light"/>
                <a:cs typeface="Lato Light"/>
                <a:sym typeface="Lato Light"/>
              </a:rPr>
              <a:t> (DNA → RNA → Protein) using high-throughput sequencing technologies.</a:t>
            </a:r>
            <a:endParaRPr/>
          </a:p>
        </p:txBody>
      </p:sp>
      <p:sp>
        <p:nvSpPr>
          <p:cNvPr id="107" name="Google Shape;107;p15"/>
          <p:cNvSpPr txBox="1"/>
          <p:nvPr/>
        </p:nvSpPr>
        <p:spPr>
          <a:xfrm>
            <a:off x="4729162" y="3401317"/>
            <a:ext cx="2775659" cy="639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64FFDA"/>
                </a:solidFill>
                <a:latin typeface="Merriweather"/>
                <a:ea typeface="Merriweather"/>
                <a:cs typeface="Merriweather"/>
                <a:sym typeface="Merriweather"/>
              </a:rPr>
              <a:t>Computational Logic</a:t>
            </a:r>
            <a:endParaRPr/>
          </a:p>
        </p:txBody>
      </p:sp>
      <p:sp>
        <p:nvSpPr>
          <p:cNvPr id="108" name="Google Shape;108;p15"/>
          <p:cNvSpPr txBox="1"/>
          <p:nvPr/>
        </p:nvSpPr>
        <p:spPr>
          <a:xfrm>
            <a:off x="4729162" y="4184153"/>
            <a:ext cx="2643485" cy="95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8892B0"/>
                </a:solidFill>
                <a:latin typeface="Lato Light"/>
                <a:ea typeface="Lato Light"/>
                <a:cs typeface="Lato Light"/>
                <a:sym typeface="Lato Light"/>
              </a:rPr>
              <a:t>Implementing </a:t>
            </a:r>
            <a:r>
              <a:rPr lang="en-US" sz="1500" b="0" i="0" u="none" strike="noStrike" cap="none">
                <a:solidFill>
                  <a:srgbClr val="CCD6F6"/>
                </a:solidFill>
                <a:latin typeface="Lato"/>
                <a:ea typeface="Lato"/>
                <a:cs typeface="Lato"/>
                <a:sym typeface="Lato"/>
              </a:rPr>
              <a:t>Dynamic Programming</a:t>
            </a:r>
            <a:r>
              <a:rPr lang="en-US" sz="1500" b="0" i="0" u="none" strike="noStrike" cap="none">
                <a:solidFill>
                  <a:srgbClr val="8892B0"/>
                </a:solidFill>
                <a:latin typeface="Lato Light"/>
                <a:ea typeface="Lato Light"/>
                <a:cs typeface="Lato Light"/>
                <a:sym typeface="Lato Light"/>
              </a:rPr>
              <a:t> algorithms (e.g., Smith-Waterman) for sequence alignment.</a:t>
            </a:r>
            <a:endParaRPr/>
          </a:p>
        </p:txBody>
      </p:sp>
      <p:sp>
        <p:nvSpPr>
          <p:cNvPr id="109" name="Google Shape;109;p15"/>
          <p:cNvSpPr txBox="1"/>
          <p:nvPr/>
        </p:nvSpPr>
        <p:spPr>
          <a:xfrm>
            <a:off x="8344197" y="3401317"/>
            <a:ext cx="3080072" cy="3199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64FFDA"/>
                </a:solidFill>
                <a:latin typeface="Merriweather"/>
                <a:ea typeface="Merriweather"/>
                <a:cs typeface="Merriweather"/>
                <a:sym typeface="Merriweather"/>
              </a:rPr>
              <a:t>Statistical Rigor</a:t>
            </a:r>
            <a:endParaRPr/>
          </a:p>
        </p:txBody>
      </p:sp>
      <p:sp>
        <p:nvSpPr>
          <p:cNvPr id="110" name="Google Shape;110;p15"/>
          <p:cNvSpPr txBox="1"/>
          <p:nvPr/>
        </p:nvSpPr>
        <p:spPr>
          <a:xfrm>
            <a:off x="8344197" y="3864173"/>
            <a:ext cx="2933402" cy="95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8892B0"/>
                </a:solidFill>
                <a:latin typeface="Lato Light"/>
                <a:ea typeface="Lato Light"/>
                <a:cs typeface="Lato Light"/>
                <a:sym typeface="Lato Light"/>
              </a:rPr>
              <a:t>Applying </a:t>
            </a:r>
            <a:r>
              <a:rPr lang="en-US" sz="1500" b="0" i="0" u="none" strike="noStrike" cap="none">
                <a:solidFill>
                  <a:srgbClr val="CCD6F6"/>
                </a:solidFill>
                <a:latin typeface="Lato"/>
                <a:ea typeface="Lato"/>
                <a:cs typeface="Lato"/>
                <a:sym typeface="Lato"/>
              </a:rPr>
              <a:t>Bayesian Inference</a:t>
            </a:r>
            <a:r>
              <a:rPr lang="en-US" sz="1500" b="0" i="0" u="none" strike="noStrike" cap="none">
                <a:solidFill>
                  <a:srgbClr val="8892B0"/>
                </a:solidFill>
                <a:latin typeface="Lato Light"/>
                <a:ea typeface="Lato Light"/>
                <a:cs typeface="Lato Light"/>
                <a:sym typeface="Lato Light"/>
              </a:rPr>
              <a:t> and Hidden Markov Models (HMM) to distinguish signal from biological noise.</a:t>
            </a:r>
            <a:endParaRPr/>
          </a:p>
        </p:txBody>
      </p:sp>
      <p:pic>
        <p:nvPicPr>
          <p:cNvPr id="111" name="Google Shape;111;p15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914400" y="2715517"/>
            <a:ext cx="40005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" name="Google Shape;112;p15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729162" y="2715517"/>
            <a:ext cx="40005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" name="Google Shape;113;p15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8344197" y="2715517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15"/>
          <p:cNvSpPr txBox="1"/>
          <p:nvPr/>
        </p:nvSpPr>
        <p:spPr>
          <a:xfrm>
            <a:off x="571500" y="571500"/>
            <a:ext cx="11601450" cy="4894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6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0" i="0" u="none" strike="noStrike" cap="none">
                <a:solidFill>
                  <a:srgbClr val="64FFDA"/>
                </a:solidFill>
                <a:latin typeface="Merriweather"/>
                <a:ea typeface="Merriweather"/>
                <a:cs typeface="Merriweather"/>
                <a:sym typeface="Merriweather"/>
              </a:rPr>
              <a:t>Definition &amp; Interdisciplinary Scope</a:t>
            </a:r>
            <a:endParaRPr/>
          </a:p>
        </p:txBody>
      </p:sp>
      <p:sp>
        <p:nvSpPr>
          <p:cNvPr id="115" name="Google Shape;115;p15"/>
          <p:cNvSpPr/>
          <p:nvPr/>
        </p:nvSpPr>
        <p:spPr>
          <a:xfrm>
            <a:off x="571500" y="1194345"/>
            <a:ext cx="11049000" cy="9525"/>
          </a:xfrm>
          <a:prstGeom prst="rect">
            <a:avLst/>
          </a:prstGeom>
          <a:solidFill>
            <a:srgbClr val="23355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92F"/>
        </a:solidFill>
        <a:effectLst/>
      </p:bgPr>
    </p:bg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0" name="Google Shape;120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1" name="Google Shape;121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81750" y="2054423"/>
            <a:ext cx="523875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16"/>
          <p:cNvSpPr txBox="1"/>
          <p:nvPr/>
        </p:nvSpPr>
        <p:spPr>
          <a:xfrm>
            <a:off x="571500" y="2054423"/>
            <a:ext cx="5238750" cy="714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8892B0"/>
                </a:solidFill>
                <a:latin typeface="Lato Light"/>
                <a:ea typeface="Lato Light"/>
                <a:cs typeface="Lato Light"/>
                <a:sym typeface="Lato Light"/>
              </a:rPr>
              <a:t>The field originated in the 1960s with </a:t>
            </a:r>
            <a:r>
              <a:rPr lang="en-US" sz="1500" b="0" i="0" u="none" strike="noStrike" cap="none">
                <a:solidFill>
                  <a:srgbClr val="CCD6F6"/>
                </a:solidFill>
                <a:latin typeface="Lato"/>
                <a:ea typeface="Lato"/>
                <a:cs typeface="Lato"/>
                <a:sym typeface="Lato"/>
              </a:rPr>
              <a:t>Margaret Dayhoff</a:t>
            </a:r>
            <a:r>
              <a:rPr lang="en-US" sz="1500" b="0" i="0" u="none" strike="noStrike" cap="none">
                <a:solidFill>
                  <a:srgbClr val="8892B0"/>
                </a:solidFill>
                <a:latin typeface="Lato Light"/>
                <a:ea typeface="Lato Light"/>
                <a:cs typeface="Lato Light"/>
                <a:sym typeface="Lato Light"/>
              </a:rPr>
              <a:t>, who pioneered protein sequence alignment and the Point Accepted Mutation (PAM) matrix.</a:t>
            </a:r>
            <a:endParaRPr/>
          </a:p>
        </p:txBody>
      </p:sp>
      <p:pic>
        <p:nvPicPr>
          <p:cNvPr id="123" name="Google Shape;123;p1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91275" y="2063948"/>
            <a:ext cx="5219700" cy="4927402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16"/>
          <p:cNvSpPr txBox="1"/>
          <p:nvPr/>
        </p:nvSpPr>
        <p:spPr>
          <a:xfrm>
            <a:off x="695325" y="2897385"/>
            <a:ext cx="66675" cy="238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8892B0"/>
                </a:solidFill>
                <a:latin typeface="Lato Light"/>
                <a:ea typeface="Lato Light"/>
                <a:cs typeface="Lato Light"/>
                <a:sym typeface="Lato Light"/>
              </a:rPr>
              <a:t>▪</a:t>
            </a:r>
            <a:endParaRPr/>
          </a:p>
        </p:txBody>
      </p:sp>
      <p:sp>
        <p:nvSpPr>
          <p:cNvPr id="125" name="Google Shape;125;p16"/>
          <p:cNvSpPr txBox="1"/>
          <p:nvPr/>
        </p:nvSpPr>
        <p:spPr>
          <a:xfrm>
            <a:off x="762000" y="2921198"/>
            <a:ext cx="5048250" cy="238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6675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CD6F6"/>
                </a:solidFill>
                <a:latin typeface="Lato"/>
                <a:ea typeface="Lato"/>
                <a:cs typeface="Lato"/>
                <a:sym typeface="Lato"/>
              </a:rPr>
              <a:t>1970s:</a:t>
            </a:r>
            <a:r>
              <a:rPr lang="en-US" sz="1500" b="0" i="0" u="none" strike="noStrike" cap="none">
                <a:solidFill>
                  <a:srgbClr val="8892B0"/>
                </a:solidFill>
                <a:latin typeface="Lato Light"/>
                <a:ea typeface="Lato Light"/>
                <a:cs typeface="Lato Light"/>
                <a:sym typeface="Lato Light"/>
              </a:rPr>
              <a:t> Needleman-Wunsch global alignment algorithm.</a:t>
            </a:r>
            <a:endParaRPr/>
          </a:p>
        </p:txBody>
      </p:sp>
      <p:sp>
        <p:nvSpPr>
          <p:cNvPr id="126" name="Google Shape;126;p16"/>
          <p:cNvSpPr txBox="1"/>
          <p:nvPr/>
        </p:nvSpPr>
        <p:spPr>
          <a:xfrm>
            <a:off x="695325" y="3135510"/>
            <a:ext cx="66675" cy="238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8892B0"/>
                </a:solidFill>
                <a:latin typeface="Lato Light"/>
                <a:ea typeface="Lato Light"/>
                <a:cs typeface="Lato Light"/>
                <a:sym typeface="Lato Light"/>
              </a:rPr>
              <a:t>▪</a:t>
            </a:r>
            <a:endParaRPr/>
          </a:p>
        </p:txBody>
      </p:sp>
      <p:sp>
        <p:nvSpPr>
          <p:cNvPr id="127" name="Google Shape;127;p16"/>
          <p:cNvSpPr txBox="1"/>
          <p:nvPr/>
        </p:nvSpPr>
        <p:spPr>
          <a:xfrm>
            <a:off x="762000" y="3159323"/>
            <a:ext cx="5048250" cy="238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6675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CD6F6"/>
                </a:solidFill>
                <a:latin typeface="Lato"/>
                <a:ea typeface="Lato"/>
                <a:cs typeface="Lato"/>
                <a:sym typeface="Lato"/>
              </a:rPr>
              <a:t>1990s:</a:t>
            </a:r>
            <a:r>
              <a:rPr lang="en-US" sz="1500" b="0" i="0" u="none" strike="noStrike" cap="none">
                <a:solidFill>
                  <a:srgbClr val="8892B0"/>
                </a:solidFill>
                <a:latin typeface="Lato Light"/>
                <a:ea typeface="Lato Light"/>
                <a:cs typeface="Lato Light"/>
                <a:sym typeface="Lato Light"/>
              </a:rPr>
              <a:t> Launch of the Human Genome Project (HGP).</a:t>
            </a:r>
            <a:endParaRPr/>
          </a:p>
        </p:txBody>
      </p:sp>
      <p:sp>
        <p:nvSpPr>
          <p:cNvPr id="128" name="Google Shape;128;p16"/>
          <p:cNvSpPr txBox="1"/>
          <p:nvPr/>
        </p:nvSpPr>
        <p:spPr>
          <a:xfrm>
            <a:off x="695325" y="3373635"/>
            <a:ext cx="66675" cy="238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8892B0"/>
                </a:solidFill>
                <a:latin typeface="Lato Light"/>
                <a:ea typeface="Lato Light"/>
                <a:cs typeface="Lato Light"/>
                <a:sym typeface="Lato Light"/>
              </a:rPr>
              <a:t>▪</a:t>
            </a:r>
            <a:endParaRPr/>
          </a:p>
        </p:txBody>
      </p:sp>
      <p:sp>
        <p:nvSpPr>
          <p:cNvPr id="129" name="Google Shape;129;p16"/>
          <p:cNvSpPr txBox="1"/>
          <p:nvPr/>
        </p:nvSpPr>
        <p:spPr>
          <a:xfrm>
            <a:off x="762000" y="3397448"/>
            <a:ext cx="5048250" cy="238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6675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CD6F6"/>
                </a:solidFill>
                <a:latin typeface="Lato"/>
                <a:ea typeface="Lato"/>
                <a:cs typeface="Lato"/>
                <a:sym typeface="Lato"/>
              </a:rPr>
              <a:t>2000s:</a:t>
            </a:r>
            <a:r>
              <a:rPr lang="en-US" sz="1500" b="0" i="0" u="none" strike="noStrike" cap="none">
                <a:solidFill>
                  <a:srgbClr val="8892B0"/>
                </a:solidFill>
                <a:latin typeface="Lato Light"/>
                <a:ea typeface="Lato Light"/>
                <a:cs typeface="Lato Light"/>
                <a:sym typeface="Lato Light"/>
              </a:rPr>
              <a:t> Next-Generation Sequencing (NGS) era begins.</a:t>
            </a:r>
            <a:endParaRPr/>
          </a:p>
        </p:txBody>
      </p:sp>
      <p:sp>
        <p:nvSpPr>
          <p:cNvPr id="130" name="Google Shape;130;p16"/>
          <p:cNvSpPr txBox="1"/>
          <p:nvPr/>
        </p:nvSpPr>
        <p:spPr>
          <a:xfrm>
            <a:off x="695325" y="3611760"/>
            <a:ext cx="66675" cy="238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8892B0"/>
                </a:solidFill>
                <a:latin typeface="Lato Light"/>
                <a:ea typeface="Lato Light"/>
                <a:cs typeface="Lato Light"/>
                <a:sym typeface="Lato Light"/>
              </a:rPr>
              <a:t>▪</a:t>
            </a:r>
            <a:endParaRPr/>
          </a:p>
        </p:txBody>
      </p:sp>
      <p:sp>
        <p:nvSpPr>
          <p:cNvPr id="131" name="Google Shape;131;p16"/>
          <p:cNvSpPr txBox="1"/>
          <p:nvPr/>
        </p:nvSpPr>
        <p:spPr>
          <a:xfrm>
            <a:off x="762000" y="3635573"/>
            <a:ext cx="5048250" cy="238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6675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CD6F6"/>
                </a:solidFill>
                <a:latin typeface="Lato"/>
                <a:ea typeface="Lato"/>
                <a:cs typeface="Lato"/>
                <a:sym typeface="Lato"/>
              </a:rPr>
              <a:t>Today:</a:t>
            </a:r>
            <a:r>
              <a:rPr lang="en-US" sz="1500" b="0" i="0" u="none" strike="noStrike" cap="none">
                <a:solidFill>
                  <a:srgbClr val="8892B0"/>
                </a:solidFill>
                <a:latin typeface="Lato Light"/>
                <a:ea typeface="Lato Light"/>
                <a:cs typeface="Lato Light"/>
                <a:sym typeface="Lato Light"/>
              </a:rPr>
              <a:t> Multi-omics integration and Big Data.</a:t>
            </a:r>
            <a:endParaRPr/>
          </a:p>
        </p:txBody>
      </p:sp>
      <p:sp>
        <p:nvSpPr>
          <p:cNvPr id="132" name="Google Shape;132;p16"/>
          <p:cNvSpPr txBox="1"/>
          <p:nvPr/>
        </p:nvSpPr>
        <p:spPr>
          <a:xfrm>
            <a:off x="571500" y="571500"/>
            <a:ext cx="11601450" cy="4894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6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0" i="0" u="none" strike="noStrike" cap="none">
                <a:solidFill>
                  <a:srgbClr val="64FFDA"/>
                </a:solidFill>
                <a:latin typeface="Merriweather"/>
                <a:ea typeface="Merriweather"/>
                <a:cs typeface="Merriweather"/>
                <a:sym typeface="Merriweather"/>
              </a:rPr>
              <a:t>History &amp; Evolution</a:t>
            </a:r>
            <a:endParaRPr/>
          </a:p>
        </p:txBody>
      </p:sp>
      <p:sp>
        <p:nvSpPr>
          <p:cNvPr id="133" name="Google Shape;133;p16"/>
          <p:cNvSpPr/>
          <p:nvPr/>
        </p:nvSpPr>
        <p:spPr>
          <a:xfrm>
            <a:off x="571500" y="1194345"/>
            <a:ext cx="11049000" cy="9525"/>
          </a:xfrm>
          <a:prstGeom prst="rect">
            <a:avLst/>
          </a:prstGeom>
          <a:solidFill>
            <a:srgbClr val="23355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92F"/>
        </a:solidFill>
        <a:effectLst/>
      </p:bgPr>
    </p:bg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8" name="Google Shape;138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p17"/>
          <p:cNvSpPr txBox="1"/>
          <p:nvPr/>
        </p:nvSpPr>
        <p:spPr>
          <a:xfrm>
            <a:off x="3680698" y="2857500"/>
            <a:ext cx="4830603" cy="7314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997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b="1" i="0" u="none" strike="noStrike" cap="none">
                <a:solidFill>
                  <a:srgbClr val="CCD6F6"/>
                </a:solidFill>
                <a:latin typeface="Merriweather"/>
                <a:ea typeface="Merriweather"/>
                <a:cs typeface="Merriweather"/>
                <a:sym typeface="Merriweather"/>
              </a:rPr>
              <a:t>Module 3</a:t>
            </a:r>
            <a:endParaRPr/>
          </a:p>
        </p:txBody>
      </p:sp>
      <p:sp>
        <p:nvSpPr>
          <p:cNvPr id="140" name="Google Shape;140;p17"/>
          <p:cNvSpPr txBox="1"/>
          <p:nvPr/>
        </p:nvSpPr>
        <p:spPr>
          <a:xfrm>
            <a:off x="3680698" y="3588990"/>
            <a:ext cx="4830603" cy="411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0" i="0" u="none" strike="noStrike" cap="none">
                <a:solidFill>
                  <a:srgbClr val="64FFDA"/>
                </a:solidFill>
                <a:latin typeface="Lato Light"/>
                <a:ea typeface="Lato Light"/>
                <a:cs typeface="Lato Light"/>
                <a:sym typeface="Lato Light"/>
              </a:rPr>
              <a:t>Advanced Computational Areas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92F"/>
        </a:solidFill>
        <a:effectLst/>
      </p:bgPr>
    </p:bg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5" name="Google Shape;145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6" name="Google Shape;146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3547020"/>
            <a:ext cx="4953000" cy="826889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18"/>
          <p:cNvSpPr txBox="1"/>
          <p:nvPr/>
        </p:nvSpPr>
        <p:spPr>
          <a:xfrm>
            <a:off x="571500" y="762000"/>
            <a:ext cx="5200650" cy="4799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6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0" i="0" u="none" strike="noStrike" cap="none">
                <a:solidFill>
                  <a:srgbClr val="64FFDA"/>
                </a:solidFill>
                <a:latin typeface="Merriweather"/>
                <a:ea typeface="Merriweather"/>
                <a:cs typeface="Merriweather"/>
                <a:sym typeface="Merriweather"/>
              </a:rPr>
              <a:t>Transcriptomics</a:t>
            </a:r>
            <a:endParaRPr/>
          </a:p>
        </p:txBody>
      </p:sp>
      <p:sp>
        <p:nvSpPr>
          <p:cNvPr id="148" name="Google Shape;148;p18"/>
          <p:cNvSpPr txBox="1"/>
          <p:nvPr/>
        </p:nvSpPr>
        <p:spPr>
          <a:xfrm>
            <a:off x="571500" y="1813470"/>
            <a:ext cx="4953000" cy="714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8892B0"/>
                </a:solidFill>
                <a:latin typeface="Lato Light"/>
                <a:ea typeface="Lato Light"/>
                <a:cs typeface="Lato Light"/>
                <a:sym typeface="Lato Light"/>
              </a:rPr>
              <a:t>Quantitative analysis of the </a:t>
            </a:r>
            <a:r>
              <a:rPr lang="en-US" sz="1500" b="0" i="0" u="none" strike="noStrike" cap="none">
                <a:solidFill>
                  <a:srgbClr val="CCD6F6"/>
                </a:solidFill>
                <a:latin typeface="Lato"/>
                <a:ea typeface="Lato"/>
                <a:cs typeface="Lato"/>
                <a:sym typeface="Lato"/>
              </a:rPr>
              <a:t>Transcriptome</a:t>
            </a:r>
            <a:r>
              <a:rPr lang="en-US" sz="1500" b="0" i="0" u="none" strike="noStrike" cap="none">
                <a:solidFill>
                  <a:srgbClr val="8892B0"/>
                </a:solidFill>
                <a:latin typeface="Lato Light"/>
                <a:ea typeface="Lato Light"/>
                <a:cs typeface="Lato Light"/>
                <a:sym typeface="Lato Light"/>
              </a:rPr>
              <a:t>—the complete set of RNA transcripts produced by the genome under specific conditions.</a:t>
            </a:r>
            <a:endParaRPr/>
          </a:p>
        </p:txBody>
      </p:sp>
      <p:sp>
        <p:nvSpPr>
          <p:cNvPr id="149" name="Google Shape;149;p18"/>
          <p:cNvSpPr txBox="1"/>
          <p:nvPr/>
        </p:nvSpPr>
        <p:spPr>
          <a:xfrm>
            <a:off x="571500" y="2642145"/>
            <a:ext cx="4953000" cy="714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8892B0"/>
                </a:solidFill>
                <a:latin typeface="Lato Light"/>
                <a:ea typeface="Lato Light"/>
                <a:cs typeface="Lato Light"/>
                <a:sym typeface="Lato Light"/>
              </a:rPr>
              <a:t>Utilizing </a:t>
            </a:r>
            <a:r>
              <a:rPr lang="en-US" sz="1500" b="0" i="0" u="none" strike="noStrike" cap="none">
                <a:solidFill>
                  <a:srgbClr val="CCD6F6"/>
                </a:solidFill>
                <a:latin typeface="Lato"/>
                <a:ea typeface="Lato"/>
                <a:cs typeface="Lato"/>
                <a:sym typeface="Lato"/>
              </a:rPr>
              <a:t>RNA-Seq</a:t>
            </a:r>
            <a:r>
              <a:rPr lang="en-US" sz="1500" b="0" i="0" u="none" strike="noStrike" cap="none">
                <a:solidFill>
                  <a:srgbClr val="8892B0"/>
                </a:solidFill>
                <a:latin typeface="Lato Light"/>
                <a:ea typeface="Lato Light"/>
                <a:cs typeface="Lato Light"/>
                <a:sym typeface="Lato Light"/>
              </a:rPr>
              <a:t> to determine differential gene expression. This process relies on calculating normalized values such as TPM (Transcripts Per Million).</a:t>
            </a:r>
            <a:endParaRPr/>
          </a:p>
        </p:txBody>
      </p:sp>
      <p:pic>
        <p:nvPicPr>
          <p:cNvPr id="150" name="Google Shape;150;p18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096000" y="0"/>
            <a:ext cx="6096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1" name="Google Shape;151;p18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62000" y="3737520"/>
            <a:ext cx="4572000" cy="44588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92F"/>
        </a:solidFill>
        <a:effectLst/>
      </p:bgPr>
    </p:bg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7" name="Google Shape;157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0" y="2054423"/>
            <a:ext cx="3810000" cy="381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8" name="Google Shape;158;p1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09600" y="2092523"/>
            <a:ext cx="3733800" cy="3733800"/>
          </a:xfrm>
          <a:prstGeom prst="rect">
            <a:avLst/>
          </a:prstGeom>
          <a:noFill/>
          <a:ln>
            <a:noFill/>
          </a:ln>
        </p:spPr>
      </p:pic>
      <p:sp>
        <p:nvSpPr>
          <p:cNvPr id="159" name="Google Shape;159;p19"/>
          <p:cNvSpPr txBox="1"/>
          <p:nvPr/>
        </p:nvSpPr>
        <p:spPr>
          <a:xfrm>
            <a:off x="6508971" y="1750814"/>
            <a:ext cx="5500687" cy="2138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4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 dirty="0">
                <a:solidFill>
                  <a:srgbClr val="64FFDA"/>
                </a:solidFill>
                <a:latin typeface="Merriweather"/>
                <a:ea typeface="Merriweather"/>
                <a:cs typeface="Merriweather"/>
                <a:sym typeface="Merriweather"/>
              </a:rPr>
              <a:t>Molecular Docking</a:t>
            </a:r>
            <a:endParaRPr dirty="0"/>
          </a:p>
        </p:txBody>
      </p:sp>
      <p:sp>
        <p:nvSpPr>
          <p:cNvPr id="160" name="Google Shape;160;p19"/>
          <p:cNvSpPr txBox="1"/>
          <p:nvPr/>
        </p:nvSpPr>
        <p:spPr>
          <a:xfrm>
            <a:off x="6372225" y="2285651"/>
            <a:ext cx="523875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8892B0"/>
                </a:solidFill>
                <a:latin typeface="Lato Light"/>
                <a:ea typeface="Lato Light"/>
                <a:cs typeface="Lato Light"/>
                <a:sym typeface="Lato Light"/>
              </a:rPr>
              <a:t>Predicting the preferred orientation of one molecule to a second when bound to each other to form a stable complex.</a:t>
            </a:r>
            <a:endParaRPr dirty="0"/>
          </a:p>
        </p:txBody>
      </p:sp>
      <p:sp>
        <p:nvSpPr>
          <p:cNvPr id="161" name="Google Shape;161;p19"/>
          <p:cNvSpPr txBox="1"/>
          <p:nvPr/>
        </p:nvSpPr>
        <p:spPr>
          <a:xfrm>
            <a:off x="6343650" y="2936155"/>
            <a:ext cx="523875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8892B0"/>
                </a:solidFill>
                <a:latin typeface="Lato Light"/>
                <a:ea typeface="Lato Light"/>
                <a:cs typeface="Lato Light"/>
                <a:sym typeface="Lato Light"/>
              </a:rPr>
              <a:t>Essential for </a:t>
            </a:r>
            <a:r>
              <a:rPr lang="en-US" sz="1500" b="0" i="0" u="none" strike="noStrike" cap="none" dirty="0">
                <a:solidFill>
                  <a:srgbClr val="CCD6F6"/>
                </a:solidFill>
                <a:latin typeface="Lato"/>
                <a:ea typeface="Lato"/>
                <a:cs typeface="Lato"/>
                <a:sym typeface="Lato"/>
              </a:rPr>
              <a:t>Rational Drug Discovery</a:t>
            </a:r>
            <a:r>
              <a:rPr lang="en-US" sz="1500" b="0" i="0" u="none" strike="noStrike" cap="none" dirty="0">
                <a:solidFill>
                  <a:srgbClr val="8892B0"/>
                </a:solidFill>
                <a:latin typeface="Lato Light"/>
                <a:ea typeface="Lato Light"/>
                <a:cs typeface="Lato Light"/>
                <a:sym typeface="Lato Light"/>
              </a:rPr>
              <a:t>, where computational scoring functions estimate binding affinity and stability.</a:t>
            </a:r>
            <a:endParaRPr dirty="0"/>
          </a:p>
        </p:txBody>
      </p:sp>
      <p:sp>
        <p:nvSpPr>
          <p:cNvPr id="162" name="Google Shape;162;p19"/>
          <p:cNvSpPr txBox="1"/>
          <p:nvPr/>
        </p:nvSpPr>
        <p:spPr>
          <a:xfrm>
            <a:off x="571500" y="571500"/>
            <a:ext cx="11601450" cy="4894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6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0" i="0" u="none" strike="noStrike" cap="none">
                <a:solidFill>
                  <a:srgbClr val="64FFDA"/>
                </a:solidFill>
                <a:latin typeface="Merriweather"/>
                <a:ea typeface="Merriweather"/>
                <a:cs typeface="Merriweather"/>
                <a:sym typeface="Merriweather"/>
              </a:rPr>
              <a:t>Structural Bioinformatics</a:t>
            </a:r>
            <a:endParaRPr/>
          </a:p>
        </p:txBody>
      </p:sp>
      <p:sp>
        <p:nvSpPr>
          <p:cNvPr id="163" name="Google Shape;163;p19"/>
          <p:cNvSpPr/>
          <p:nvPr/>
        </p:nvSpPr>
        <p:spPr>
          <a:xfrm>
            <a:off x="571500" y="1194345"/>
            <a:ext cx="11049000" cy="9525"/>
          </a:xfrm>
          <a:prstGeom prst="rect">
            <a:avLst/>
          </a:prstGeom>
          <a:solidFill>
            <a:srgbClr val="23355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28" name="Picture 4" descr="Molecular docking 3D and 2D images for compounds 5a-d ...">
            <a:extLst>
              <a:ext uri="{FF2B5EF4-FFF2-40B4-BE49-F238E27FC236}">
                <a16:creationId xmlns:a16="http://schemas.microsoft.com/office/drawing/2014/main" id="{362A44BB-CAAE-F03C-635A-429BE25E767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0491" y="3864173"/>
            <a:ext cx="2333625" cy="19621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92F"/>
        </a:solidFill>
        <a:effectLst/>
      </p:bgPr>
    </p:bg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8" name="Google Shape;168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9" name="Google Shape;169;p2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81750" y="1816298"/>
            <a:ext cx="5238750" cy="428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p20"/>
          <p:cNvSpPr txBox="1"/>
          <p:nvPr/>
        </p:nvSpPr>
        <p:spPr>
          <a:xfrm>
            <a:off x="571500" y="1816298"/>
            <a:ext cx="5500687" cy="2138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4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64FFDA"/>
                </a:solidFill>
                <a:latin typeface="Merriweather"/>
                <a:ea typeface="Merriweather"/>
                <a:cs typeface="Merriweather"/>
                <a:sym typeface="Merriweather"/>
              </a:rPr>
              <a:t>Biological Networks</a:t>
            </a:r>
            <a:endParaRPr/>
          </a:p>
        </p:txBody>
      </p:sp>
      <p:sp>
        <p:nvSpPr>
          <p:cNvPr id="171" name="Google Shape;171;p20"/>
          <p:cNvSpPr txBox="1"/>
          <p:nvPr/>
        </p:nvSpPr>
        <p:spPr>
          <a:xfrm>
            <a:off x="571500" y="2030164"/>
            <a:ext cx="523875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8892B0"/>
                </a:solidFill>
                <a:latin typeface="Lato Light"/>
                <a:ea typeface="Lato Light"/>
                <a:cs typeface="Lato Light"/>
                <a:sym typeface="Lato Light"/>
              </a:rPr>
              <a:t>Moving from reductionist analysis to holistic modeling of interaction networks (PPIs, Metabolic pathways).</a:t>
            </a:r>
            <a:endParaRPr/>
          </a:p>
        </p:txBody>
      </p:sp>
      <p:sp>
        <p:nvSpPr>
          <p:cNvPr id="172" name="Google Shape;172;p20"/>
          <p:cNvSpPr txBox="1"/>
          <p:nvPr/>
        </p:nvSpPr>
        <p:spPr>
          <a:xfrm>
            <a:off x="571500" y="2620714"/>
            <a:ext cx="5238750" cy="714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CD6F6"/>
                </a:solidFill>
                <a:latin typeface="Lato"/>
                <a:ea typeface="Lato"/>
                <a:cs typeface="Lato"/>
                <a:sym typeface="Lato"/>
              </a:rPr>
              <a:t>AlphaFold &amp; ML:</a:t>
            </a:r>
            <a:r>
              <a:rPr lang="en-US" sz="1500" b="0" i="0" u="none" strike="noStrike" cap="none">
                <a:solidFill>
                  <a:srgbClr val="8892B0"/>
                </a:solidFill>
                <a:latin typeface="Lato Light"/>
                <a:ea typeface="Lato Light"/>
                <a:cs typeface="Lato Light"/>
                <a:sym typeface="Lato Light"/>
              </a:rPr>
              <a:t> Modern Deep Learning architectures are solving the 50-year-old protein folding problem with unprecedented accuracy.</a:t>
            </a:r>
            <a:endParaRPr/>
          </a:p>
        </p:txBody>
      </p:sp>
      <p:pic>
        <p:nvPicPr>
          <p:cNvPr id="173" name="Google Shape;173;p20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91275" y="1825823"/>
            <a:ext cx="5219700" cy="426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74" name="Google Shape;174;p20"/>
          <p:cNvSpPr txBox="1"/>
          <p:nvPr/>
        </p:nvSpPr>
        <p:spPr>
          <a:xfrm>
            <a:off x="571500" y="571500"/>
            <a:ext cx="11601450" cy="4894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6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0" i="0" u="none" strike="noStrike" cap="none">
                <a:solidFill>
                  <a:srgbClr val="64FFDA"/>
                </a:solidFill>
                <a:latin typeface="Merriweather"/>
                <a:ea typeface="Merriweather"/>
                <a:cs typeface="Merriweather"/>
                <a:sym typeface="Merriweather"/>
              </a:rPr>
              <a:t>Systems Biology &amp; AI</a:t>
            </a:r>
            <a:endParaRPr/>
          </a:p>
        </p:txBody>
      </p:sp>
      <p:sp>
        <p:nvSpPr>
          <p:cNvPr id="175" name="Google Shape;175;p20"/>
          <p:cNvSpPr/>
          <p:nvPr/>
        </p:nvSpPr>
        <p:spPr>
          <a:xfrm>
            <a:off x="571500" y="1194345"/>
            <a:ext cx="11049000" cy="9525"/>
          </a:xfrm>
          <a:prstGeom prst="rect">
            <a:avLst/>
          </a:prstGeom>
          <a:solidFill>
            <a:srgbClr val="23355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92F"/>
        </a:solidFill>
        <a:effectLst/>
      </p:bgPr>
    </p:bg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0" name="Google Shape;180;p2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1" name="Google Shape;181;p21"/>
          <p:cNvSpPr txBox="1"/>
          <p:nvPr/>
        </p:nvSpPr>
        <p:spPr>
          <a:xfrm>
            <a:off x="3900725" y="2857500"/>
            <a:ext cx="4390548" cy="7314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997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b="1" i="0" u="none" strike="noStrike" cap="none">
                <a:solidFill>
                  <a:srgbClr val="CCD6F6"/>
                </a:solidFill>
                <a:latin typeface="Merriweather"/>
                <a:ea typeface="Merriweather"/>
                <a:cs typeface="Merriweather"/>
                <a:sym typeface="Merriweather"/>
              </a:rPr>
              <a:t>Module 4</a:t>
            </a:r>
            <a:endParaRPr/>
          </a:p>
        </p:txBody>
      </p:sp>
      <p:sp>
        <p:nvSpPr>
          <p:cNvPr id="182" name="Google Shape;182;p21"/>
          <p:cNvSpPr txBox="1"/>
          <p:nvPr/>
        </p:nvSpPr>
        <p:spPr>
          <a:xfrm>
            <a:off x="3900725" y="3588990"/>
            <a:ext cx="4390548" cy="411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0" i="0" u="none" strike="noStrike" cap="none">
                <a:solidFill>
                  <a:srgbClr val="64FFDA"/>
                </a:solidFill>
                <a:latin typeface="Lato Light"/>
                <a:ea typeface="Lato Light"/>
                <a:cs typeface="Lato Light"/>
                <a:sym typeface="Lato Light"/>
              </a:rPr>
              <a:t>Data Infrastructure &amp; Access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92F"/>
        </a:solidFill>
        <a:effectLst/>
      </p:bgPr>
    </p:bg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7" name="Google Shape;187;p2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8" name="Google Shape;188;p22"/>
          <p:cNvSpPr txBox="1"/>
          <p:nvPr/>
        </p:nvSpPr>
        <p:spPr>
          <a:xfrm>
            <a:off x="571500" y="5140523"/>
            <a:ext cx="11049000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1" u="none" strike="noStrike" cap="none">
                <a:solidFill>
                  <a:srgbClr val="8892B0"/>
                </a:solidFill>
                <a:latin typeface="Lato Light"/>
                <a:ea typeface="Lato Light"/>
                <a:cs typeface="Lato Light"/>
                <a:sym typeface="Lato Light"/>
              </a:rPr>
              <a:t>*Programmatic access typically via REST APIs or specialized toolsets like BioPython/BioPerl.</a:t>
            </a:r>
            <a:endParaRPr/>
          </a:p>
        </p:txBody>
      </p:sp>
      <p:sp>
        <p:nvSpPr>
          <p:cNvPr id="189" name="Google Shape;189;p22"/>
          <p:cNvSpPr/>
          <p:nvPr/>
        </p:nvSpPr>
        <p:spPr>
          <a:xfrm>
            <a:off x="571500" y="2473523"/>
            <a:ext cx="11049000" cy="2381250"/>
          </a:xfrm>
          <a:prstGeom prst="roundRect">
            <a:avLst>
              <a:gd name="adj" fmla="val 0"/>
            </a:avLst>
          </a:prstGeom>
          <a:solidFill>
            <a:srgbClr val="112240"/>
          </a:solidFill>
          <a:ln w="9525" cap="flat" cmpd="sng">
            <a:solidFill>
              <a:srgbClr val="4A7DBA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90" name="Google Shape;190;p22"/>
          <p:cNvGraphicFramePr/>
          <p:nvPr>
            <p:extLst>
              <p:ext uri="{D42A27DB-BD31-4B8C-83A1-F6EECF244321}">
                <p14:modId xmlns:p14="http://schemas.microsoft.com/office/powerpoint/2010/main" val="3060764171"/>
              </p:ext>
            </p:extLst>
          </p:nvPr>
        </p:nvGraphicFramePr>
        <p:xfrm>
          <a:off x="571500" y="2473523"/>
          <a:ext cx="11048975" cy="2381250"/>
        </p:xfrm>
        <a:graphic>
          <a:graphicData uri="http://schemas.openxmlformats.org/drawingml/2006/table">
            <a:tbl>
              <a:tblPr firstRow="1" bandRow="1">
                <a:tableStyleId>{3C2FFA5D-87B4-456A-9821-1D502468CF0F}</a:tableStyleId>
              </a:tblPr>
              <a:tblGrid>
                <a:gridCol w="2357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13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31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457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762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u="none" strike="noStrike" cap="none">
                          <a:solidFill>
                            <a:schemeClr val="tx1"/>
                          </a:solidFill>
                          <a:sym typeface="Merriweather"/>
                        </a:rPr>
                        <a:t>Infrastructure</a:t>
                      </a:r>
                      <a:endParaRPr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u="none" strike="noStrike" cap="none">
                          <a:solidFill>
                            <a:schemeClr val="tx1"/>
                          </a:solidFill>
                          <a:sym typeface="Merriweather"/>
                        </a:rPr>
                        <a:t>Core Repository</a:t>
                      </a:r>
                      <a:endParaRPr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u="none" strike="noStrike" cap="none">
                          <a:solidFill>
                            <a:schemeClr val="tx1"/>
                          </a:solidFill>
                          <a:sym typeface="Merriweather"/>
                        </a:rPr>
                        <a:t>Biological Target</a:t>
                      </a:r>
                      <a:endParaRPr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u="none" strike="noStrike" cap="none">
                          <a:solidFill>
                            <a:schemeClr val="tx1"/>
                          </a:solidFill>
                          <a:sym typeface="Merriweather"/>
                        </a:rPr>
                        <a:t>Standard Format</a:t>
                      </a:r>
                      <a:endParaRPr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62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u="none" strike="noStrike" cap="none">
                          <a:solidFill>
                            <a:schemeClr val="tx1"/>
                          </a:solidFill>
                          <a:sym typeface="Lato"/>
                        </a:rPr>
                        <a:t>NCBI</a:t>
                      </a:r>
                      <a:endParaRPr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u="none" strike="noStrike" cap="none">
                          <a:solidFill>
                            <a:schemeClr val="tx1"/>
                          </a:solidFill>
                          <a:sym typeface="Lato"/>
                        </a:rPr>
                        <a:t>GenBank / RefSeq</a:t>
                      </a:r>
                      <a:endParaRPr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u="none" strike="noStrike" cap="none">
                          <a:solidFill>
                            <a:schemeClr val="tx1"/>
                          </a:solidFill>
                          <a:sym typeface="Lato"/>
                        </a:rPr>
                        <a:t>Nucleotide / Genomic</a:t>
                      </a:r>
                      <a:endParaRPr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u="none" strike="noStrike" cap="none">
                          <a:solidFill>
                            <a:schemeClr val="tx1"/>
                          </a:solidFill>
                          <a:sym typeface="Lato"/>
                        </a:rPr>
                        <a:t>FASTA / GenBank</a:t>
                      </a:r>
                      <a:endParaRPr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62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u="none" strike="noStrike" cap="none">
                          <a:solidFill>
                            <a:schemeClr val="tx1"/>
                          </a:solidFill>
                          <a:sym typeface="Lato"/>
                        </a:rPr>
                        <a:t>UniProt</a:t>
                      </a:r>
                      <a:endParaRPr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u="none" strike="noStrike" cap="none">
                          <a:solidFill>
                            <a:schemeClr val="tx1"/>
                          </a:solidFill>
                          <a:sym typeface="Lato"/>
                        </a:rPr>
                        <a:t>Swiss-Prot / TrEMBL</a:t>
                      </a:r>
                      <a:endParaRPr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u="none" strike="noStrike" cap="none" dirty="0">
                          <a:solidFill>
                            <a:schemeClr val="tx1"/>
                          </a:solidFill>
                          <a:sym typeface="Lato"/>
                        </a:rPr>
                        <a:t>Protein Sequence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u="none" strike="noStrike" cap="none">
                          <a:solidFill>
                            <a:schemeClr val="tx1"/>
                          </a:solidFill>
                          <a:sym typeface="Lato"/>
                        </a:rPr>
                        <a:t>Flat File / XML</a:t>
                      </a:r>
                      <a:endParaRPr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62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u="none" strike="noStrike" cap="none">
                          <a:solidFill>
                            <a:schemeClr val="tx1"/>
                          </a:solidFill>
                          <a:sym typeface="Lato"/>
                        </a:rPr>
                        <a:t>RCSB PDB</a:t>
                      </a:r>
                      <a:endParaRPr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u="none" strike="noStrike" cap="none">
                          <a:solidFill>
                            <a:schemeClr val="tx1"/>
                          </a:solidFill>
                          <a:sym typeface="Lato"/>
                        </a:rPr>
                        <a:t>Protein Data Bank</a:t>
                      </a:r>
                      <a:endParaRPr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u="none" strike="noStrike" cap="none">
                          <a:solidFill>
                            <a:schemeClr val="tx1"/>
                          </a:solidFill>
                          <a:sym typeface="Lato"/>
                        </a:rPr>
                        <a:t>3D Macromolecules</a:t>
                      </a:r>
                      <a:endParaRPr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u="none" strike="noStrike" cap="none">
                          <a:solidFill>
                            <a:schemeClr val="tx1"/>
                          </a:solidFill>
                          <a:sym typeface="Lato"/>
                        </a:rPr>
                        <a:t>PDB / mmCIF</a:t>
                      </a:r>
                      <a:endParaRPr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62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u="none" strike="noStrike" cap="none">
                          <a:solidFill>
                            <a:schemeClr val="tx1"/>
                          </a:solidFill>
                          <a:sym typeface="Lato"/>
                        </a:rPr>
                        <a:t>EMBL-EBI</a:t>
                      </a:r>
                      <a:endParaRPr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u="none" strike="noStrike" cap="none">
                          <a:solidFill>
                            <a:schemeClr val="tx1"/>
                          </a:solidFill>
                          <a:sym typeface="Lato"/>
                        </a:rPr>
                        <a:t>ENA</a:t>
                      </a:r>
                      <a:endParaRPr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u="none" strike="noStrike" cap="none">
                          <a:solidFill>
                            <a:schemeClr val="tx1"/>
                          </a:solidFill>
                          <a:sym typeface="Lato"/>
                        </a:rPr>
                        <a:t>Raw Sequencing Data</a:t>
                      </a:r>
                      <a:endParaRPr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u="none" strike="noStrike" cap="none" dirty="0">
                          <a:solidFill>
                            <a:schemeClr val="tx1"/>
                          </a:solidFill>
                          <a:sym typeface="Lato"/>
                        </a:rPr>
                        <a:t>FASTQ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91" name="Google Shape;191;p22"/>
          <p:cNvSpPr/>
          <p:nvPr/>
        </p:nvSpPr>
        <p:spPr>
          <a:xfrm>
            <a:off x="571500" y="3411735"/>
            <a:ext cx="2357883" cy="9525"/>
          </a:xfrm>
          <a:prstGeom prst="rect">
            <a:avLst/>
          </a:prstGeom>
          <a:solidFill>
            <a:srgbClr val="23355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22"/>
          <p:cNvSpPr/>
          <p:nvPr/>
        </p:nvSpPr>
        <p:spPr>
          <a:xfrm>
            <a:off x="2929383" y="3411735"/>
            <a:ext cx="2913757" cy="9525"/>
          </a:xfrm>
          <a:prstGeom prst="rect">
            <a:avLst/>
          </a:prstGeom>
          <a:solidFill>
            <a:srgbClr val="23355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22"/>
          <p:cNvSpPr/>
          <p:nvPr/>
        </p:nvSpPr>
        <p:spPr>
          <a:xfrm>
            <a:off x="5843141" y="3411735"/>
            <a:ext cx="3031628" cy="9525"/>
          </a:xfrm>
          <a:prstGeom prst="rect">
            <a:avLst/>
          </a:prstGeom>
          <a:solidFill>
            <a:srgbClr val="23355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22"/>
          <p:cNvSpPr/>
          <p:nvPr/>
        </p:nvSpPr>
        <p:spPr>
          <a:xfrm>
            <a:off x="8874769" y="3411735"/>
            <a:ext cx="2745730" cy="9525"/>
          </a:xfrm>
          <a:prstGeom prst="rect">
            <a:avLst/>
          </a:prstGeom>
          <a:solidFill>
            <a:srgbClr val="23355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22"/>
          <p:cNvSpPr/>
          <p:nvPr/>
        </p:nvSpPr>
        <p:spPr>
          <a:xfrm>
            <a:off x="571500" y="3887985"/>
            <a:ext cx="2357883" cy="9525"/>
          </a:xfrm>
          <a:prstGeom prst="rect">
            <a:avLst/>
          </a:prstGeom>
          <a:solidFill>
            <a:srgbClr val="23355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22"/>
          <p:cNvSpPr/>
          <p:nvPr/>
        </p:nvSpPr>
        <p:spPr>
          <a:xfrm>
            <a:off x="2929383" y="3887985"/>
            <a:ext cx="2913757" cy="9525"/>
          </a:xfrm>
          <a:prstGeom prst="rect">
            <a:avLst/>
          </a:prstGeom>
          <a:solidFill>
            <a:srgbClr val="23355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22"/>
          <p:cNvSpPr/>
          <p:nvPr/>
        </p:nvSpPr>
        <p:spPr>
          <a:xfrm>
            <a:off x="5843141" y="3887985"/>
            <a:ext cx="3031628" cy="9525"/>
          </a:xfrm>
          <a:prstGeom prst="rect">
            <a:avLst/>
          </a:prstGeom>
          <a:solidFill>
            <a:srgbClr val="23355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22"/>
          <p:cNvSpPr/>
          <p:nvPr/>
        </p:nvSpPr>
        <p:spPr>
          <a:xfrm>
            <a:off x="8874769" y="3887985"/>
            <a:ext cx="2745730" cy="9525"/>
          </a:xfrm>
          <a:prstGeom prst="rect">
            <a:avLst/>
          </a:prstGeom>
          <a:solidFill>
            <a:srgbClr val="23355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22"/>
          <p:cNvSpPr/>
          <p:nvPr/>
        </p:nvSpPr>
        <p:spPr>
          <a:xfrm>
            <a:off x="571500" y="4364235"/>
            <a:ext cx="2357883" cy="9525"/>
          </a:xfrm>
          <a:prstGeom prst="rect">
            <a:avLst/>
          </a:prstGeom>
          <a:solidFill>
            <a:srgbClr val="23355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22"/>
          <p:cNvSpPr/>
          <p:nvPr/>
        </p:nvSpPr>
        <p:spPr>
          <a:xfrm>
            <a:off x="2929383" y="4364235"/>
            <a:ext cx="2913757" cy="9525"/>
          </a:xfrm>
          <a:prstGeom prst="rect">
            <a:avLst/>
          </a:prstGeom>
          <a:solidFill>
            <a:srgbClr val="23355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22"/>
          <p:cNvSpPr/>
          <p:nvPr/>
        </p:nvSpPr>
        <p:spPr>
          <a:xfrm>
            <a:off x="5843141" y="4364235"/>
            <a:ext cx="3031628" cy="9525"/>
          </a:xfrm>
          <a:prstGeom prst="rect">
            <a:avLst/>
          </a:prstGeom>
          <a:solidFill>
            <a:srgbClr val="23355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22"/>
          <p:cNvSpPr/>
          <p:nvPr/>
        </p:nvSpPr>
        <p:spPr>
          <a:xfrm>
            <a:off x="8874769" y="4364235"/>
            <a:ext cx="2745730" cy="9525"/>
          </a:xfrm>
          <a:prstGeom prst="rect">
            <a:avLst/>
          </a:prstGeom>
          <a:solidFill>
            <a:srgbClr val="23355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22"/>
          <p:cNvSpPr/>
          <p:nvPr/>
        </p:nvSpPr>
        <p:spPr>
          <a:xfrm>
            <a:off x="571500" y="4840485"/>
            <a:ext cx="2357883" cy="9525"/>
          </a:xfrm>
          <a:prstGeom prst="rect">
            <a:avLst/>
          </a:prstGeom>
          <a:solidFill>
            <a:srgbClr val="23355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22"/>
          <p:cNvSpPr/>
          <p:nvPr/>
        </p:nvSpPr>
        <p:spPr>
          <a:xfrm>
            <a:off x="2929383" y="4840485"/>
            <a:ext cx="2913757" cy="9525"/>
          </a:xfrm>
          <a:prstGeom prst="rect">
            <a:avLst/>
          </a:prstGeom>
          <a:solidFill>
            <a:srgbClr val="23355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22"/>
          <p:cNvSpPr/>
          <p:nvPr/>
        </p:nvSpPr>
        <p:spPr>
          <a:xfrm>
            <a:off x="5843141" y="4840485"/>
            <a:ext cx="3031628" cy="9525"/>
          </a:xfrm>
          <a:prstGeom prst="rect">
            <a:avLst/>
          </a:prstGeom>
          <a:solidFill>
            <a:srgbClr val="23355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22"/>
          <p:cNvSpPr/>
          <p:nvPr/>
        </p:nvSpPr>
        <p:spPr>
          <a:xfrm>
            <a:off x="8874769" y="4840485"/>
            <a:ext cx="2745730" cy="9525"/>
          </a:xfrm>
          <a:prstGeom prst="rect">
            <a:avLst/>
          </a:prstGeom>
          <a:solidFill>
            <a:srgbClr val="23355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22"/>
          <p:cNvSpPr txBox="1"/>
          <p:nvPr/>
        </p:nvSpPr>
        <p:spPr>
          <a:xfrm>
            <a:off x="571500" y="571500"/>
            <a:ext cx="11601450" cy="4894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6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0" i="0" u="none" strike="noStrike" cap="none">
                <a:solidFill>
                  <a:srgbClr val="64FFDA"/>
                </a:solidFill>
                <a:latin typeface="Merriweather"/>
                <a:ea typeface="Merriweather"/>
                <a:cs typeface="Merriweather"/>
                <a:sym typeface="Merriweather"/>
              </a:rPr>
              <a:t>Critical Biological Repositories</a:t>
            </a:r>
            <a:endParaRPr/>
          </a:p>
        </p:txBody>
      </p:sp>
      <p:sp>
        <p:nvSpPr>
          <p:cNvPr id="208" name="Google Shape;208;p22"/>
          <p:cNvSpPr/>
          <p:nvPr/>
        </p:nvSpPr>
        <p:spPr>
          <a:xfrm>
            <a:off x="571500" y="1194345"/>
            <a:ext cx="11049000" cy="9525"/>
          </a:xfrm>
          <a:prstGeom prst="rect">
            <a:avLst/>
          </a:prstGeom>
          <a:solidFill>
            <a:srgbClr val="23355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92F"/>
        </a:solidFill>
        <a:effectLst/>
      </p:bgPr>
    </p:bg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3" name="Google Shape;213;p2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4" name="Google Shape;214;p2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970758"/>
            <a:ext cx="3555950" cy="197733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5" name="Google Shape;215;p23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17950" y="2970758"/>
            <a:ext cx="3555950" cy="197733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6" name="Google Shape;216;p23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064400" y="2970758"/>
            <a:ext cx="3555950" cy="1977330"/>
          </a:xfrm>
          <a:prstGeom prst="rect">
            <a:avLst/>
          </a:prstGeom>
          <a:noFill/>
          <a:ln>
            <a:noFill/>
          </a:ln>
        </p:spPr>
      </p:pic>
      <p:sp>
        <p:nvSpPr>
          <p:cNvPr id="217" name="Google Shape;217;p23"/>
          <p:cNvSpPr txBox="1"/>
          <p:nvPr/>
        </p:nvSpPr>
        <p:spPr>
          <a:xfrm>
            <a:off x="914400" y="3313658"/>
            <a:ext cx="3013657" cy="3199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64FFDA"/>
                </a:solidFill>
                <a:latin typeface="Merriweather"/>
                <a:ea typeface="Merriweather"/>
                <a:cs typeface="Merriweather"/>
                <a:sym typeface="Merriweather"/>
              </a:rPr>
              <a:t>Precision Medicine</a:t>
            </a:r>
            <a:endParaRPr/>
          </a:p>
        </p:txBody>
      </p:sp>
      <p:sp>
        <p:nvSpPr>
          <p:cNvPr id="218" name="Google Shape;218;p23"/>
          <p:cNvSpPr txBox="1"/>
          <p:nvPr/>
        </p:nvSpPr>
        <p:spPr>
          <a:xfrm>
            <a:off x="914400" y="3776513"/>
            <a:ext cx="2870150" cy="714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8892B0"/>
                </a:solidFill>
                <a:latin typeface="Lato Light"/>
                <a:ea typeface="Lato Light"/>
                <a:cs typeface="Lato Light"/>
                <a:sym typeface="Lato Light"/>
              </a:rPr>
              <a:t>Pharmacogenomics-based therapy selection to minimize adverse drug reactions.</a:t>
            </a:r>
            <a:endParaRPr/>
          </a:p>
        </p:txBody>
      </p:sp>
      <p:sp>
        <p:nvSpPr>
          <p:cNvPr id="219" name="Google Shape;219;p23"/>
          <p:cNvSpPr txBox="1"/>
          <p:nvPr/>
        </p:nvSpPr>
        <p:spPr>
          <a:xfrm>
            <a:off x="4660850" y="3313658"/>
            <a:ext cx="3013657" cy="3199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64FFDA"/>
                </a:solidFill>
                <a:latin typeface="Merriweather"/>
                <a:ea typeface="Merriweather"/>
                <a:cs typeface="Merriweather"/>
                <a:sym typeface="Merriweather"/>
              </a:rPr>
              <a:t>Agri-Genomics</a:t>
            </a:r>
            <a:endParaRPr/>
          </a:p>
        </p:txBody>
      </p:sp>
      <p:sp>
        <p:nvSpPr>
          <p:cNvPr id="220" name="Google Shape;220;p23"/>
          <p:cNvSpPr txBox="1"/>
          <p:nvPr/>
        </p:nvSpPr>
        <p:spPr>
          <a:xfrm>
            <a:off x="4660850" y="3776513"/>
            <a:ext cx="2870150" cy="714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8892B0"/>
                </a:solidFill>
                <a:latin typeface="Lato Light"/>
                <a:ea typeface="Lato Light"/>
                <a:cs typeface="Lato Light"/>
                <a:sym typeface="Lato Light"/>
              </a:rPr>
              <a:t>Marker-Assisted Selection (MAS) for drought-resistant and nutrient-dense crops.</a:t>
            </a:r>
            <a:endParaRPr/>
          </a:p>
        </p:txBody>
      </p:sp>
      <p:sp>
        <p:nvSpPr>
          <p:cNvPr id="221" name="Google Shape;221;p23"/>
          <p:cNvSpPr txBox="1"/>
          <p:nvPr/>
        </p:nvSpPr>
        <p:spPr>
          <a:xfrm>
            <a:off x="8407300" y="3313658"/>
            <a:ext cx="3013657" cy="3199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64FFDA"/>
                </a:solidFill>
                <a:latin typeface="Merriweather"/>
                <a:ea typeface="Merriweather"/>
                <a:cs typeface="Merriweather"/>
                <a:sym typeface="Merriweather"/>
              </a:rPr>
              <a:t>Synthetic Biology</a:t>
            </a:r>
            <a:endParaRPr/>
          </a:p>
        </p:txBody>
      </p:sp>
      <p:sp>
        <p:nvSpPr>
          <p:cNvPr id="222" name="Google Shape;222;p23"/>
          <p:cNvSpPr txBox="1"/>
          <p:nvPr/>
        </p:nvSpPr>
        <p:spPr>
          <a:xfrm>
            <a:off x="8407300" y="3776513"/>
            <a:ext cx="287015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8892B0"/>
                </a:solidFill>
                <a:latin typeface="Lato Light"/>
                <a:ea typeface="Lato Light"/>
                <a:cs typeface="Lato Light"/>
                <a:sym typeface="Lato Light"/>
              </a:rPr>
              <a:t>CAD-based design of metabolic pathways for biofuel production.</a:t>
            </a:r>
            <a:endParaRPr/>
          </a:p>
        </p:txBody>
      </p:sp>
      <p:sp>
        <p:nvSpPr>
          <p:cNvPr id="223" name="Google Shape;223;p23"/>
          <p:cNvSpPr txBox="1"/>
          <p:nvPr/>
        </p:nvSpPr>
        <p:spPr>
          <a:xfrm>
            <a:off x="571500" y="571500"/>
            <a:ext cx="11601450" cy="4894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6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0" i="0" u="none" strike="noStrike" cap="none">
                <a:solidFill>
                  <a:srgbClr val="64FFDA"/>
                </a:solidFill>
                <a:latin typeface="Merriweather"/>
                <a:ea typeface="Merriweather"/>
                <a:cs typeface="Merriweather"/>
                <a:sym typeface="Merriweather"/>
              </a:rPr>
              <a:t>Emerging Applications</a:t>
            </a:r>
            <a:endParaRPr/>
          </a:p>
        </p:txBody>
      </p:sp>
      <p:sp>
        <p:nvSpPr>
          <p:cNvPr id="224" name="Google Shape;224;p23"/>
          <p:cNvSpPr/>
          <p:nvPr/>
        </p:nvSpPr>
        <p:spPr>
          <a:xfrm>
            <a:off x="571500" y="1194345"/>
            <a:ext cx="11049000" cy="9525"/>
          </a:xfrm>
          <a:prstGeom prst="rect">
            <a:avLst/>
          </a:prstGeom>
          <a:solidFill>
            <a:srgbClr val="23355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" name="Picture 2" descr="bioinfo//shivani">
            <a:extLst>
              <a:ext uri="{FF2B5EF4-FFF2-40B4-BE49-F238E27FC236}">
                <a16:creationId xmlns:a16="http://schemas.microsoft.com/office/drawing/2014/main" id="{EC88FD9D-05F1-C170-77EC-E3E87A24748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25820" y="170631"/>
            <a:ext cx="1780430" cy="17804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1695450" y="2419350"/>
            <a:ext cx="8801100" cy="733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250" b="1" i="0" u="none" strike="noStrike" cap="none">
                <a:solidFill>
                  <a:srgbClr val="11CAA0"/>
                </a:solidFill>
                <a:latin typeface="Merriweather"/>
                <a:ea typeface="Merriweather"/>
                <a:cs typeface="Merriweather"/>
                <a:sym typeface="Merriweather"/>
              </a:rPr>
              <a:t>Bioinformatics Workflow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1905000" y="3343275"/>
            <a:ext cx="838200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1" u="none" strike="noStrike" cap="none">
                <a:solidFill>
                  <a:srgbClr val="FDFCF0"/>
                </a:solidFill>
                <a:latin typeface="DM Sans"/>
                <a:ea typeface="DM Sans"/>
                <a:cs typeface="DM Sans"/>
                <a:sym typeface="DM Sans"/>
              </a:rPr>
              <a:t>Standardizing the Path from Biological Questions to Scientific Publication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1905000" y="4010025"/>
            <a:ext cx="838200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Module 6</a:t>
            </a:r>
            <a:r>
              <a:rPr lang="en-US" sz="150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| Comprehensive Methodology &amp; Case Studies</a:t>
            </a:r>
            <a:endParaRPr/>
          </a:p>
        </p:txBody>
      </p:sp>
      <p:pic>
        <p:nvPicPr>
          <p:cNvPr id="2" name="Picture 2" descr="bioinfo//shivani">
            <a:extLst>
              <a:ext uri="{FF2B5EF4-FFF2-40B4-BE49-F238E27FC236}">
                <a16:creationId xmlns:a16="http://schemas.microsoft.com/office/drawing/2014/main" id="{F263F49D-8121-FACD-4EF7-107B75FDB7B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28142" y="185515"/>
            <a:ext cx="1780430" cy="17804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" name="Google Shape;92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14"/>
          <p:cNvSpPr/>
          <p:nvPr/>
        </p:nvSpPr>
        <p:spPr>
          <a:xfrm>
            <a:off x="5619750" y="2709862"/>
            <a:ext cx="952500" cy="47625"/>
          </a:xfrm>
          <a:prstGeom prst="rect">
            <a:avLst/>
          </a:prstGeom>
          <a:solidFill>
            <a:srgbClr val="11CAA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14"/>
          <p:cNvSpPr txBox="1"/>
          <p:nvPr/>
        </p:nvSpPr>
        <p:spPr>
          <a:xfrm>
            <a:off x="295275" y="3043237"/>
            <a:ext cx="11601450" cy="714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500" b="1" i="0" u="none" strike="noStrike" cap="none">
                <a:solidFill>
                  <a:srgbClr val="FDFCF0"/>
                </a:solidFill>
                <a:latin typeface="Merriweather"/>
                <a:ea typeface="Merriweather"/>
                <a:cs typeface="Merriweather"/>
                <a:sym typeface="Merriweather"/>
              </a:rPr>
              <a:t>The Research Lifecycle</a:t>
            </a:r>
            <a:endParaRPr/>
          </a:p>
        </p:txBody>
      </p:sp>
      <p:sp>
        <p:nvSpPr>
          <p:cNvPr id="95" name="Google Shape;95;p14"/>
          <p:cNvSpPr txBox="1"/>
          <p:nvPr/>
        </p:nvSpPr>
        <p:spPr>
          <a:xfrm>
            <a:off x="571500" y="3948112"/>
            <a:ext cx="110490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FDFCF0"/>
                </a:solidFill>
                <a:latin typeface="DM Sans"/>
                <a:ea typeface="DM Sans"/>
                <a:cs typeface="DM Sans"/>
                <a:sym typeface="DM Sans"/>
              </a:rPr>
              <a:t>An End-to-End Computational Strategy</a:t>
            </a:r>
            <a:endParaRPr/>
          </a:p>
        </p:txBody>
      </p:sp>
      <p:pic>
        <p:nvPicPr>
          <p:cNvPr id="2" name="Picture 2" descr="bioinfo//shivani">
            <a:extLst>
              <a:ext uri="{FF2B5EF4-FFF2-40B4-BE49-F238E27FC236}">
                <a16:creationId xmlns:a16="http://schemas.microsoft.com/office/drawing/2014/main" id="{694D50D9-BA2A-E98B-7533-1A7003FB71C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32726" y="229717"/>
            <a:ext cx="1780430" cy="17804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00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15"/>
          <p:cNvSpPr/>
          <p:nvPr/>
        </p:nvSpPr>
        <p:spPr>
          <a:xfrm>
            <a:off x="571500" y="3838575"/>
            <a:ext cx="11049000" cy="381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15"/>
          <p:cNvSpPr txBox="1"/>
          <p:nvPr/>
        </p:nvSpPr>
        <p:spPr>
          <a:xfrm>
            <a:off x="400050" y="4381500"/>
            <a:ext cx="2000250" cy="238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11CAA0"/>
                </a:solidFill>
                <a:latin typeface="Merriweather"/>
                <a:ea typeface="Merriweather"/>
                <a:cs typeface="Merriweather"/>
                <a:sym typeface="Merriweather"/>
              </a:rPr>
              <a:t>1. Hypothesis</a:t>
            </a:r>
            <a:endParaRPr/>
          </a:p>
        </p:txBody>
      </p:sp>
      <p:sp>
        <p:nvSpPr>
          <p:cNvPr id="103" name="Google Shape;103;p15"/>
          <p:cNvSpPr txBox="1"/>
          <p:nvPr/>
        </p:nvSpPr>
        <p:spPr>
          <a:xfrm>
            <a:off x="447675" y="47625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Biological Question Definition</a:t>
            </a:r>
            <a:endParaRPr/>
          </a:p>
        </p:txBody>
      </p:sp>
      <p:sp>
        <p:nvSpPr>
          <p:cNvPr id="104" name="Google Shape;104;p15"/>
          <p:cNvSpPr txBox="1"/>
          <p:nvPr/>
        </p:nvSpPr>
        <p:spPr>
          <a:xfrm>
            <a:off x="2278260" y="2828925"/>
            <a:ext cx="2000250" cy="238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11CAA0"/>
                </a:solidFill>
                <a:latin typeface="Merriweather"/>
                <a:ea typeface="Merriweather"/>
                <a:cs typeface="Merriweather"/>
                <a:sym typeface="Merriweather"/>
              </a:rPr>
              <a:t>2. Collection</a:t>
            </a:r>
            <a:endParaRPr/>
          </a:p>
        </p:txBody>
      </p:sp>
      <p:sp>
        <p:nvSpPr>
          <p:cNvPr id="105" name="Google Shape;105;p15"/>
          <p:cNvSpPr txBox="1"/>
          <p:nvPr/>
        </p:nvSpPr>
        <p:spPr>
          <a:xfrm>
            <a:off x="2325885" y="3209925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Database Retrieval &amp; Generation</a:t>
            </a:r>
            <a:endParaRPr/>
          </a:p>
        </p:txBody>
      </p:sp>
      <p:sp>
        <p:nvSpPr>
          <p:cNvPr id="106" name="Google Shape;106;p15"/>
          <p:cNvSpPr txBox="1"/>
          <p:nvPr/>
        </p:nvSpPr>
        <p:spPr>
          <a:xfrm>
            <a:off x="4156471" y="4381500"/>
            <a:ext cx="2000250" cy="238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11CAA0"/>
                </a:solidFill>
                <a:latin typeface="Merriweather"/>
                <a:ea typeface="Merriweather"/>
                <a:cs typeface="Merriweather"/>
                <a:sym typeface="Merriweather"/>
              </a:rPr>
              <a:t>3. Sequence</a:t>
            </a:r>
            <a:endParaRPr/>
          </a:p>
        </p:txBody>
      </p:sp>
      <p:sp>
        <p:nvSpPr>
          <p:cNvPr id="107" name="Google Shape;107;p15"/>
          <p:cNvSpPr txBox="1"/>
          <p:nvPr/>
        </p:nvSpPr>
        <p:spPr>
          <a:xfrm>
            <a:off x="4204096" y="47625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Alignment &amp; Variant Identification</a:t>
            </a:r>
            <a:endParaRPr/>
          </a:p>
        </p:txBody>
      </p:sp>
      <p:sp>
        <p:nvSpPr>
          <p:cNvPr id="108" name="Google Shape;108;p15"/>
          <p:cNvSpPr txBox="1"/>
          <p:nvPr/>
        </p:nvSpPr>
        <p:spPr>
          <a:xfrm>
            <a:off x="6034682" y="3057525"/>
            <a:ext cx="2000250" cy="238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11CAA0"/>
                </a:solidFill>
                <a:latin typeface="Merriweather"/>
                <a:ea typeface="Merriweather"/>
                <a:cs typeface="Merriweather"/>
                <a:sym typeface="Merriweather"/>
              </a:rPr>
              <a:t>4. Structure</a:t>
            </a:r>
            <a:endParaRPr/>
          </a:p>
        </p:txBody>
      </p:sp>
      <p:sp>
        <p:nvSpPr>
          <p:cNvPr id="109" name="Google Shape;109;p15"/>
          <p:cNvSpPr txBox="1"/>
          <p:nvPr/>
        </p:nvSpPr>
        <p:spPr>
          <a:xfrm>
            <a:off x="6082307" y="3438525"/>
            <a:ext cx="19050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3D Modeling &amp; Interaction</a:t>
            </a:r>
            <a:endParaRPr/>
          </a:p>
        </p:txBody>
      </p:sp>
      <p:sp>
        <p:nvSpPr>
          <p:cNvPr id="110" name="Google Shape;110;p15"/>
          <p:cNvSpPr txBox="1"/>
          <p:nvPr/>
        </p:nvSpPr>
        <p:spPr>
          <a:xfrm>
            <a:off x="7912893" y="4381500"/>
            <a:ext cx="2000250" cy="238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11CAA0"/>
                </a:solidFill>
                <a:latin typeface="Merriweather"/>
                <a:ea typeface="Merriweather"/>
                <a:cs typeface="Merriweather"/>
                <a:sym typeface="Merriweather"/>
              </a:rPr>
              <a:t>5. Function</a:t>
            </a:r>
            <a:endParaRPr/>
          </a:p>
        </p:txBody>
      </p:sp>
      <p:sp>
        <p:nvSpPr>
          <p:cNvPr id="111" name="Google Shape;111;p15"/>
          <p:cNvSpPr txBox="1"/>
          <p:nvPr/>
        </p:nvSpPr>
        <p:spPr>
          <a:xfrm>
            <a:off x="7960518" y="47625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Pathway &amp; Network Interpretation</a:t>
            </a:r>
            <a:endParaRPr/>
          </a:p>
        </p:txBody>
      </p:sp>
      <p:sp>
        <p:nvSpPr>
          <p:cNvPr id="112" name="Google Shape;112;p15"/>
          <p:cNvSpPr txBox="1"/>
          <p:nvPr/>
        </p:nvSpPr>
        <p:spPr>
          <a:xfrm>
            <a:off x="9791104" y="2828925"/>
            <a:ext cx="2000250" cy="238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11CAA0"/>
                </a:solidFill>
                <a:latin typeface="Merriweather"/>
                <a:ea typeface="Merriweather"/>
                <a:cs typeface="Merriweather"/>
                <a:sym typeface="Merriweather"/>
              </a:rPr>
              <a:t>6. Publish</a:t>
            </a:r>
            <a:endParaRPr/>
          </a:p>
        </p:txBody>
      </p:sp>
      <p:sp>
        <p:nvSpPr>
          <p:cNvPr id="113" name="Google Shape;113;p15"/>
          <p:cNvSpPr txBox="1"/>
          <p:nvPr/>
        </p:nvSpPr>
        <p:spPr>
          <a:xfrm>
            <a:off x="9838729" y="3209925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Dissemination &amp; Data Deposit</a:t>
            </a:r>
            <a:endParaRPr/>
          </a:p>
        </p:txBody>
      </p:sp>
      <p:sp>
        <p:nvSpPr>
          <p:cNvPr id="114" name="Google Shape;114;p15"/>
          <p:cNvSpPr/>
          <p:nvPr/>
        </p:nvSpPr>
        <p:spPr>
          <a:xfrm>
            <a:off x="1304925" y="4000500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11CAA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15"/>
          <p:cNvSpPr/>
          <p:nvPr/>
        </p:nvSpPr>
        <p:spPr>
          <a:xfrm>
            <a:off x="3183135" y="4000500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11CAA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15"/>
          <p:cNvSpPr/>
          <p:nvPr/>
        </p:nvSpPr>
        <p:spPr>
          <a:xfrm>
            <a:off x="5061346" y="4000500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11CAA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15"/>
          <p:cNvSpPr/>
          <p:nvPr/>
        </p:nvSpPr>
        <p:spPr>
          <a:xfrm>
            <a:off x="6939557" y="4000500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11CAA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15"/>
          <p:cNvSpPr/>
          <p:nvPr/>
        </p:nvSpPr>
        <p:spPr>
          <a:xfrm>
            <a:off x="8817768" y="4000500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11CAA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15"/>
          <p:cNvSpPr/>
          <p:nvPr/>
        </p:nvSpPr>
        <p:spPr>
          <a:xfrm>
            <a:off x="10695979" y="4000500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11CAA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15"/>
          <p:cNvSpPr txBox="1"/>
          <p:nvPr/>
        </p:nvSpPr>
        <p:spPr>
          <a:xfrm>
            <a:off x="762000" y="571500"/>
            <a:ext cx="11401425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001F3F"/>
                </a:solidFill>
                <a:latin typeface="Merriweather"/>
                <a:ea typeface="Merriweather"/>
                <a:cs typeface="Merriweather"/>
                <a:sym typeface="Merriweather"/>
              </a:rPr>
              <a:t>The 6-Step Standard Workflow</a:t>
            </a:r>
            <a:endParaRPr/>
          </a:p>
        </p:txBody>
      </p:sp>
      <p:sp>
        <p:nvSpPr>
          <p:cNvPr id="121" name="Google Shape;121;p15"/>
          <p:cNvSpPr/>
          <p:nvPr/>
        </p:nvSpPr>
        <p:spPr>
          <a:xfrm>
            <a:off x="571500" y="571500"/>
            <a:ext cx="57150" cy="476250"/>
          </a:xfrm>
          <a:prstGeom prst="rect">
            <a:avLst/>
          </a:prstGeom>
          <a:solidFill>
            <a:srgbClr val="11CAA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" name="Picture 2" descr="bioinfo//shivani">
            <a:extLst>
              <a:ext uri="{FF2B5EF4-FFF2-40B4-BE49-F238E27FC236}">
                <a16:creationId xmlns:a16="http://schemas.microsoft.com/office/drawing/2014/main" id="{FAF94656-48A0-5C77-65A9-00F3D7D118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10924" y="228600"/>
            <a:ext cx="1780430" cy="17804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6" name="Google Shape;126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7" name="Google Shape;127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205037"/>
            <a:ext cx="5286375" cy="3019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8" name="Google Shape;128;p1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34125" y="2205037"/>
            <a:ext cx="5286375" cy="3305175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6"/>
          <p:cNvSpPr txBox="1"/>
          <p:nvPr/>
        </p:nvSpPr>
        <p:spPr>
          <a:xfrm>
            <a:off x="962025" y="2595562"/>
            <a:ext cx="4730591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11CAA0"/>
                </a:solidFill>
                <a:latin typeface="Merriweather"/>
                <a:ea typeface="Merriweather"/>
                <a:cs typeface="Merriweather"/>
                <a:sym typeface="Merriweather"/>
              </a:rPr>
              <a:t>The Biological Question</a:t>
            </a:r>
            <a:endParaRPr/>
          </a:p>
        </p:txBody>
      </p:sp>
      <p:sp>
        <p:nvSpPr>
          <p:cNvPr id="130" name="Google Shape;130;p16"/>
          <p:cNvSpPr txBox="1"/>
          <p:nvPr/>
        </p:nvSpPr>
        <p:spPr>
          <a:xfrm>
            <a:off x="962025" y="3119437"/>
            <a:ext cx="4505325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Research begins by identifying a biological gap. Are we looking for the cause of a mutation, the target for a drug, or the evolution of a species?</a:t>
            </a:r>
            <a:endParaRPr/>
          </a:p>
        </p:txBody>
      </p:sp>
      <p:sp>
        <p:nvSpPr>
          <p:cNvPr id="131" name="Google Shape;131;p16"/>
          <p:cNvSpPr txBox="1"/>
          <p:nvPr/>
        </p:nvSpPr>
        <p:spPr>
          <a:xfrm>
            <a:off x="962025" y="4119562"/>
            <a:ext cx="4505325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Example:</a:t>
            </a:r>
            <a:r>
              <a:rPr lang="en-US" sz="150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"Which genetic variants contribute to HER2+ breast cancer drug resistance?"</a:t>
            </a:r>
            <a:endParaRPr/>
          </a:p>
        </p:txBody>
      </p:sp>
      <p:sp>
        <p:nvSpPr>
          <p:cNvPr id="132" name="Google Shape;132;p16"/>
          <p:cNvSpPr txBox="1"/>
          <p:nvPr/>
        </p:nvSpPr>
        <p:spPr>
          <a:xfrm>
            <a:off x="6724650" y="2595562"/>
            <a:ext cx="4730591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11CAA0"/>
                </a:solidFill>
                <a:latin typeface="Merriweather"/>
                <a:ea typeface="Merriweather"/>
                <a:cs typeface="Merriweather"/>
                <a:sym typeface="Merriweather"/>
              </a:rPr>
              <a:t>Data Acquisition</a:t>
            </a:r>
            <a:endParaRPr/>
          </a:p>
        </p:txBody>
      </p:sp>
      <p:sp>
        <p:nvSpPr>
          <p:cNvPr id="133" name="Google Shape;133;p16"/>
          <p:cNvSpPr txBox="1"/>
          <p:nvPr/>
        </p:nvSpPr>
        <p:spPr>
          <a:xfrm>
            <a:off x="6724650" y="3119437"/>
            <a:ext cx="4505325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Data is retrieved from primary databases (NCBI, ENA) or generated via laboratory experiments like Next-Gen Sequencing (NGS).</a:t>
            </a:r>
            <a:endParaRPr/>
          </a:p>
        </p:txBody>
      </p:sp>
      <p:sp>
        <p:nvSpPr>
          <p:cNvPr id="134" name="Google Shape;134;p16"/>
          <p:cNvSpPr txBox="1"/>
          <p:nvPr/>
        </p:nvSpPr>
        <p:spPr>
          <a:xfrm>
            <a:off x="6724650" y="4119562"/>
            <a:ext cx="4505325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Quality Control:</a:t>
            </a:r>
            <a:r>
              <a:rPr lang="en-US" sz="150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Essential step to ensure raw data (FASTQ) is clean and reliable for downstream analysis.</a:t>
            </a:r>
            <a:endParaRPr/>
          </a:p>
        </p:txBody>
      </p:sp>
      <p:sp>
        <p:nvSpPr>
          <p:cNvPr id="135" name="Google Shape;135;p16"/>
          <p:cNvSpPr txBox="1"/>
          <p:nvPr/>
        </p:nvSpPr>
        <p:spPr>
          <a:xfrm>
            <a:off x="762000" y="571500"/>
            <a:ext cx="11401425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001F3F"/>
                </a:solidFill>
                <a:latin typeface="Merriweather"/>
                <a:ea typeface="Merriweather"/>
                <a:cs typeface="Merriweather"/>
                <a:sym typeface="Merriweather"/>
              </a:rPr>
              <a:t>Phase 1: Question &amp; Collection</a:t>
            </a:r>
            <a:endParaRPr/>
          </a:p>
        </p:txBody>
      </p:sp>
      <p:sp>
        <p:nvSpPr>
          <p:cNvPr id="136" name="Google Shape;136;p16"/>
          <p:cNvSpPr/>
          <p:nvPr/>
        </p:nvSpPr>
        <p:spPr>
          <a:xfrm>
            <a:off x="571500" y="571500"/>
            <a:ext cx="57150" cy="476250"/>
          </a:xfrm>
          <a:prstGeom prst="rect">
            <a:avLst/>
          </a:prstGeom>
          <a:solidFill>
            <a:srgbClr val="11CAA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" name="Picture 2" descr="bioinfo//shivani">
            <a:extLst>
              <a:ext uri="{FF2B5EF4-FFF2-40B4-BE49-F238E27FC236}">
                <a16:creationId xmlns:a16="http://schemas.microsoft.com/office/drawing/2014/main" id="{0263DD83-71D4-42CC-9C45-7E0CDD0993C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10924" y="228600"/>
            <a:ext cx="1780430" cy="17804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1" name="Google Shape;141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2" name="Google Shape;142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34125" y="1952625"/>
            <a:ext cx="5286375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p17"/>
          <p:cNvSpPr txBox="1"/>
          <p:nvPr/>
        </p:nvSpPr>
        <p:spPr>
          <a:xfrm>
            <a:off x="571500" y="1952625"/>
            <a:ext cx="5286375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Once data is collected, computational algorithms compare sequences to known references or assemble them </a:t>
            </a:r>
            <a:r>
              <a:rPr lang="en-US" sz="1500" b="0" i="1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de novo</a:t>
            </a:r>
            <a:r>
              <a:rPr lang="en-US" sz="150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.</a:t>
            </a:r>
            <a:endParaRPr/>
          </a:p>
        </p:txBody>
      </p:sp>
      <p:pic>
        <p:nvPicPr>
          <p:cNvPr id="144" name="Google Shape;144;p1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43650" y="1962150"/>
            <a:ext cx="5267325" cy="3790950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7"/>
          <p:cNvSpPr txBox="1"/>
          <p:nvPr/>
        </p:nvSpPr>
        <p:spPr>
          <a:xfrm>
            <a:off x="695325" y="2676525"/>
            <a:ext cx="66675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146" name="Google Shape;146;p17"/>
          <p:cNvSpPr txBox="1"/>
          <p:nvPr/>
        </p:nvSpPr>
        <p:spPr>
          <a:xfrm>
            <a:off x="762000" y="2676525"/>
            <a:ext cx="5095875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6675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Alignment:</a:t>
            </a:r>
            <a:r>
              <a:rPr lang="en-US" sz="150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Identifying similarities using BLAST or Smith-Waterman.</a:t>
            </a:r>
            <a:endParaRPr/>
          </a:p>
        </p:txBody>
      </p:sp>
      <p:sp>
        <p:nvSpPr>
          <p:cNvPr id="147" name="Google Shape;147;p17"/>
          <p:cNvSpPr txBox="1"/>
          <p:nvPr/>
        </p:nvSpPr>
        <p:spPr>
          <a:xfrm>
            <a:off x="695325" y="3248025"/>
            <a:ext cx="66675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148" name="Google Shape;148;p17"/>
          <p:cNvSpPr txBox="1"/>
          <p:nvPr/>
        </p:nvSpPr>
        <p:spPr>
          <a:xfrm>
            <a:off x="762000" y="3248025"/>
            <a:ext cx="5095875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6675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Assembly:</a:t>
            </a:r>
            <a:r>
              <a:rPr lang="en-US" sz="150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Combining overlapping fragments into contiguous sequences.</a:t>
            </a:r>
            <a:endParaRPr/>
          </a:p>
        </p:txBody>
      </p:sp>
      <p:sp>
        <p:nvSpPr>
          <p:cNvPr id="149" name="Google Shape;149;p17"/>
          <p:cNvSpPr txBox="1"/>
          <p:nvPr/>
        </p:nvSpPr>
        <p:spPr>
          <a:xfrm>
            <a:off x="695325" y="3819525"/>
            <a:ext cx="66675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150" name="Google Shape;150;p17"/>
          <p:cNvSpPr txBox="1"/>
          <p:nvPr/>
        </p:nvSpPr>
        <p:spPr>
          <a:xfrm>
            <a:off x="762000" y="3819525"/>
            <a:ext cx="5095875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6675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Annotation:</a:t>
            </a:r>
            <a:r>
              <a:rPr lang="en-US" sz="150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Locating genes and functional regions within the sequence.</a:t>
            </a:r>
            <a:endParaRPr/>
          </a:p>
        </p:txBody>
      </p:sp>
      <p:sp>
        <p:nvSpPr>
          <p:cNvPr id="151" name="Google Shape;151;p17"/>
          <p:cNvSpPr txBox="1"/>
          <p:nvPr/>
        </p:nvSpPr>
        <p:spPr>
          <a:xfrm>
            <a:off x="762000" y="571500"/>
            <a:ext cx="11401425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001F3F"/>
                </a:solidFill>
                <a:latin typeface="Merriweather"/>
                <a:ea typeface="Merriweather"/>
                <a:cs typeface="Merriweather"/>
                <a:sym typeface="Merriweather"/>
              </a:rPr>
              <a:t>Phase 2: Sequence Analysis</a:t>
            </a:r>
            <a:endParaRPr/>
          </a:p>
        </p:txBody>
      </p:sp>
      <p:sp>
        <p:nvSpPr>
          <p:cNvPr id="152" name="Google Shape;152;p17"/>
          <p:cNvSpPr/>
          <p:nvPr/>
        </p:nvSpPr>
        <p:spPr>
          <a:xfrm>
            <a:off x="571500" y="571500"/>
            <a:ext cx="57150" cy="476250"/>
          </a:xfrm>
          <a:prstGeom prst="rect">
            <a:avLst/>
          </a:prstGeom>
          <a:solidFill>
            <a:srgbClr val="11CAA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" name="Picture 2" descr="bioinfo//shivani">
            <a:extLst>
              <a:ext uri="{FF2B5EF4-FFF2-40B4-BE49-F238E27FC236}">
                <a16:creationId xmlns:a16="http://schemas.microsoft.com/office/drawing/2014/main" id="{5C393491-AEA9-CE84-9AFF-FE1C0157A10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95021" y="85476"/>
            <a:ext cx="1780430" cy="17804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7" name="Google Shape;157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8" name="Google Shape;158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4629150"/>
            <a:ext cx="5334000" cy="552896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18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172200" y="2333625"/>
            <a:ext cx="5334000" cy="3143250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18"/>
          <p:cNvSpPr txBox="1"/>
          <p:nvPr/>
        </p:nvSpPr>
        <p:spPr>
          <a:xfrm>
            <a:off x="571500" y="2333625"/>
            <a:ext cx="5600700" cy="3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0" i="0" u="none" strike="noStrike" cap="none">
                <a:solidFill>
                  <a:srgbClr val="10B98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Per-Base Quality Evaluation</a:t>
            </a:r>
            <a:endParaRPr/>
          </a:p>
        </p:txBody>
      </p:sp>
      <p:sp>
        <p:nvSpPr>
          <p:cNvPr id="161" name="Google Shape;161;p18"/>
          <p:cNvSpPr txBox="1"/>
          <p:nvPr/>
        </p:nvSpPr>
        <p:spPr>
          <a:xfrm>
            <a:off x="571500" y="2800350"/>
            <a:ext cx="5334000" cy="7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0" i="0" u="none" strike="noStrike" cap="none">
                <a:solidFill>
                  <a:srgbClr val="9CA3AF"/>
                </a:solidFill>
                <a:latin typeface="Lato"/>
                <a:ea typeface="Lato"/>
                <a:cs typeface="Lato"/>
                <a:sym typeface="Lato"/>
              </a:rPr>
              <a:t>Using </a:t>
            </a:r>
            <a:r>
              <a:rPr lang="en-US" sz="1275" b="1" i="0" u="none" strike="noStrike" cap="none">
                <a:solidFill>
                  <a:srgbClr val="00B4D8"/>
                </a:solidFill>
                <a:latin typeface="Lato"/>
                <a:ea typeface="Lato"/>
                <a:cs typeface="Lato"/>
                <a:sym typeface="Lato"/>
              </a:rPr>
              <a:t>FastQC</a:t>
            </a:r>
            <a:r>
              <a:rPr lang="en-US" sz="1275" b="0" i="0" u="none" strike="noStrike" cap="none">
                <a:solidFill>
                  <a:srgbClr val="9CA3AF"/>
                </a:solidFill>
                <a:latin typeface="Lato"/>
                <a:ea typeface="Lato"/>
                <a:cs typeface="Lato"/>
                <a:sym typeface="Lato"/>
              </a:rPr>
              <a:t> to analyze sequence-quality distribution along raw reads. Unacceptable drop-offs in Phred scores indicate sequencer issues or base degradation.</a:t>
            </a:r>
            <a:endParaRPr/>
          </a:p>
        </p:txBody>
      </p:sp>
      <p:sp>
        <p:nvSpPr>
          <p:cNvPr id="162" name="Google Shape;162;p18"/>
          <p:cNvSpPr txBox="1"/>
          <p:nvPr/>
        </p:nvSpPr>
        <p:spPr>
          <a:xfrm>
            <a:off x="571500" y="3643312"/>
            <a:ext cx="5334000" cy="4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1" i="0" u="none" strike="noStrike" cap="none">
                <a:solidFill>
                  <a:srgbClr val="00B4D8"/>
                </a:solidFill>
                <a:latin typeface="Lato"/>
                <a:ea typeface="Lato"/>
                <a:cs typeface="Lato"/>
                <a:sym typeface="Lato"/>
              </a:rPr>
              <a:t>Read Filtering:</a:t>
            </a:r>
            <a:r>
              <a:rPr lang="en-US" sz="1275" b="0" i="0" u="none" strike="noStrike" cap="none">
                <a:solidFill>
                  <a:srgbClr val="9CA3AF"/>
                </a:solidFill>
                <a:latin typeface="Lato"/>
                <a:ea typeface="Lato"/>
                <a:cs typeface="Lato"/>
                <a:sym typeface="Lato"/>
              </a:rPr>
              <a:t> Trimming adapters and low-quality terminals to prevent biased alignments.</a:t>
            </a:r>
            <a:endParaRPr/>
          </a:p>
        </p:txBody>
      </p:sp>
      <p:sp>
        <p:nvSpPr>
          <p:cNvPr id="163" name="Google Shape;163;p18"/>
          <p:cNvSpPr txBox="1"/>
          <p:nvPr/>
        </p:nvSpPr>
        <p:spPr>
          <a:xfrm>
            <a:off x="571500" y="4243387"/>
            <a:ext cx="5334000" cy="19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0" i="0" u="none" strike="noStrike" cap="none">
                <a:solidFill>
                  <a:srgbClr val="9CA3AF"/>
                </a:solidFill>
                <a:latin typeface="Lato"/>
                <a:ea typeface="Lato"/>
                <a:cs typeface="Lato"/>
                <a:sym typeface="Lato"/>
              </a:rPr>
              <a:t>We filter out reads that fail to satisfy quality metrics:</a:t>
            </a:r>
            <a:endParaRPr/>
          </a:p>
        </p:txBody>
      </p:sp>
      <p:pic>
        <p:nvPicPr>
          <p:cNvPr id="164" name="Google Shape;164;p18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2317551" y="4791075"/>
            <a:ext cx="1841896" cy="238571"/>
          </a:xfrm>
          <a:prstGeom prst="rect">
            <a:avLst/>
          </a:prstGeom>
          <a:noFill/>
          <a:ln>
            <a:noFill/>
          </a:ln>
        </p:spPr>
      </p:pic>
      <p:pic>
        <p:nvPicPr>
          <p:cNvPr id="165" name="Google Shape;165;p18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305550" y="2643533"/>
            <a:ext cx="5314950" cy="361950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18"/>
          <p:cNvSpPr txBox="1"/>
          <p:nvPr/>
        </p:nvSpPr>
        <p:spPr>
          <a:xfrm>
            <a:off x="571500" y="476250"/>
            <a:ext cx="11601600" cy="4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1" i="0" u="none" strike="noStrike" cap="none">
                <a:solidFill>
                  <a:srgbClr val="00B4D8"/>
                </a:solidFill>
                <a:latin typeface="Poppins"/>
                <a:ea typeface="Poppins"/>
                <a:cs typeface="Poppins"/>
                <a:sym typeface="Poppins"/>
              </a:rPr>
              <a:t>Quality Control &amp; Trimming</a:t>
            </a:r>
            <a:endParaRPr/>
          </a:p>
        </p:txBody>
      </p:sp>
      <p:sp>
        <p:nvSpPr>
          <p:cNvPr id="167" name="Google Shape;167;p18"/>
          <p:cNvSpPr/>
          <p:nvPr/>
        </p:nvSpPr>
        <p:spPr>
          <a:xfrm>
            <a:off x="571500" y="1133475"/>
            <a:ext cx="11049000" cy="9600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" name="Picture 2" descr="bioinfo//shivani">
            <a:extLst>
              <a:ext uri="{FF2B5EF4-FFF2-40B4-BE49-F238E27FC236}">
                <a16:creationId xmlns:a16="http://schemas.microsoft.com/office/drawing/2014/main" id="{CC0FD37F-C2C9-ADAE-7D64-563281F9BD8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58632" y="157039"/>
            <a:ext cx="1780430" cy="17804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D536B3D2-3848-4C7F-0161-CFF6CA15CB3A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172200" y="2256680"/>
            <a:ext cx="5448300" cy="36322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2" name="Google Shape;172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3" name="Google Shape;173;p1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767012"/>
            <a:ext cx="5334000" cy="2276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4" name="Google Shape;174;p19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286500" y="2767012"/>
            <a:ext cx="5334000" cy="2276475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Google Shape;175;p19"/>
          <p:cNvSpPr txBox="1"/>
          <p:nvPr/>
        </p:nvSpPr>
        <p:spPr>
          <a:xfrm>
            <a:off x="866775" y="3062287"/>
            <a:ext cx="4980600" cy="3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0" i="0" u="none" strike="noStrike" cap="none">
                <a:solidFill>
                  <a:srgbClr val="00B4D8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Reference-Based Mapping</a:t>
            </a:r>
            <a:endParaRPr/>
          </a:p>
        </p:txBody>
      </p:sp>
      <p:sp>
        <p:nvSpPr>
          <p:cNvPr id="176" name="Google Shape;176;p19"/>
          <p:cNvSpPr txBox="1"/>
          <p:nvPr/>
        </p:nvSpPr>
        <p:spPr>
          <a:xfrm>
            <a:off x="866775" y="3529012"/>
            <a:ext cx="4743600" cy="4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0" i="0" u="none" strike="noStrike" cap="none">
                <a:solidFill>
                  <a:srgbClr val="9CA3AF"/>
                </a:solidFill>
                <a:latin typeface="Lato"/>
                <a:ea typeface="Lato"/>
                <a:cs typeface="Lato"/>
                <a:sym typeface="Lato"/>
              </a:rPr>
              <a:t>Aligning processed fragments directly onto an established, fully assembled target genome sequence.</a:t>
            </a:r>
            <a:endParaRPr/>
          </a:p>
        </p:txBody>
      </p:sp>
      <p:sp>
        <p:nvSpPr>
          <p:cNvPr id="177" name="Google Shape;177;p19"/>
          <p:cNvSpPr txBox="1"/>
          <p:nvPr/>
        </p:nvSpPr>
        <p:spPr>
          <a:xfrm>
            <a:off x="866775" y="4129087"/>
            <a:ext cx="4743600" cy="4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1" i="0" u="none" strike="noStrike" cap="none">
                <a:solidFill>
                  <a:srgbClr val="00B4D8"/>
                </a:solidFill>
                <a:latin typeface="Lato"/>
                <a:ea typeface="Lato"/>
                <a:cs typeface="Lato"/>
                <a:sym typeface="Lato"/>
              </a:rPr>
              <a:t>Primary Tools:</a:t>
            </a:r>
            <a:r>
              <a:rPr lang="en-US" sz="1275" b="0" i="0" u="none" strike="noStrike" cap="none">
                <a:solidFill>
                  <a:srgbClr val="9CA3AF"/>
                </a:solidFill>
                <a:latin typeface="Lato"/>
                <a:ea typeface="Lato"/>
                <a:cs typeface="Lato"/>
                <a:sym typeface="Lato"/>
              </a:rPr>
              <a:t> BWA-MEM (Genomic DNA), STAR (Spliced Transcriptome/RNA-Seq), Bowtie2 (Small molecules/Amplicons).</a:t>
            </a:r>
            <a:endParaRPr/>
          </a:p>
        </p:txBody>
      </p:sp>
      <p:sp>
        <p:nvSpPr>
          <p:cNvPr id="178" name="Google Shape;178;p19"/>
          <p:cNvSpPr txBox="1"/>
          <p:nvPr/>
        </p:nvSpPr>
        <p:spPr>
          <a:xfrm>
            <a:off x="6581775" y="3062287"/>
            <a:ext cx="4980600" cy="3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0" i="0" u="none" strike="noStrike" cap="none">
                <a:solidFill>
                  <a:srgbClr val="00B4D8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De Novo Assembly</a:t>
            </a:r>
            <a:endParaRPr/>
          </a:p>
        </p:txBody>
      </p:sp>
      <p:sp>
        <p:nvSpPr>
          <p:cNvPr id="179" name="Google Shape;179;p19"/>
          <p:cNvSpPr txBox="1"/>
          <p:nvPr/>
        </p:nvSpPr>
        <p:spPr>
          <a:xfrm>
            <a:off x="6581775" y="3529012"/>
            <a:ext cx="4743600" cy="4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0" i="0" u="none" strike="noStrike" cap="none">
                <a:solidFill>
                  <a:srgbClr val="9CA3AF"/>
                </a:solidFill>
                <a:latin typeface="Lato"/>
                <a:ea typeface="Lato"/>
                <a:cs typeface="Lato"/>
                <a:sym typeface="Lato"/>
              </a:rPr>
              <a:t>Reconstructing novel transcriptomes or genomes from scratch without relying on a pre-existing structural blueprint.</a:t>
            </a:r>
            <a:endParaRPr/>
          </a:p>
        </p:txBody>
      </p:sp>
      <p:sp>
        <p:nvSpPr>
          <p:cNvPr id="180" name="Google Shape;180;p19"/>
          <p:cNvSpPr txBox="1"/>
          <p:nvPr/>
        </p:nvSpPr>
        <p:spPr>
          <a:xfrm>
            <a:off x="6581775" y="4129087"/>
            <a:ext cx="4743600" cy="4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1" i="0" u="none" strike="noStrike" cap="none">
                <a:solidFill>
                  <a:srgbClr val="00B4D8"/>
                </a:solidFill>
                <a:latin typeface="Lato"/>
                <a:ea typeface="Lato"/>
                <a:cs typeface="Lato"/>
                <a:sym typeface="Lato"/>
              </a:rPr>
              <a:t>Primary Tools:</a:t>
            </a:r>
            <a:r>
              <a:rPr lang="en-US" sz="1275" b="0" i="0" u="none" strike="noStrike" cap="none">
                <a:solidFill>
                  <a:srgbClr val="9CA3AF"/>
                </a:solidFill>
                <a:latin typeface="Lato"/>
                <a:ea typeface="Lato"/>
                <a:cs typeface="Lato"/>
                <a:sym typeface="Lato"/>
              </a:rPr>
              <a:t> SPAdes (Bacterial/Viral), Trinity (Transcriptome), Flye (Long-read structural loops).</a:t>
            </a:r>
            <a:endParaRPr/>
          </a:p>
        </p:txBody>
      </p:sp>
      <p:sp>
        <p:nvSpPr>
          <p:cNvPr id="181" name="Google Shape;181;p19"/>
          <p:cNvSpPr txBox="1"/>
          <p:nvPr/>
        </p:nvSpPr>
        <p:spPr>
          <a:xfrm>
            <a:off x="571500" y="476250"/>
            <a:ext cx="11601600" cy="4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1" i="0" u="none" strike="noStrike" cap="none">
                <a:solidFill>
                  <a:srgbClr val="00B4D8"/>
                </a:solidFill>
                <a:latin typeface="Poppins"/>
                <a:ea typeface="Poppins"/>
                <a:cs typeface="Poppins"/>
                <a:sym typeface="Poppins"/>
              </a:rPr>
              <a:t>Alignment Paradigms</a:t>
            </a:r>
            <a:endParaRPr/>
          </a:p>
        </p:txBody>
      </p:sp>
      <p:sp>
        <p:nvSpPr>
          <p:cNvPr id="182" name="Google Shape;182;p19"/>
          <p:cNvSpPr/>
          <p:nvPr/>
        </p:nvSpPr>
        <p:spPr>
          <a:xfrm>
            <a:off x="571500" y="1133475"/>
            <a:ext cx="11049000" cy="9600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" name="Picture 2" descr="bioinfo//shivani">
            <a:extLst>
              <a:ext uri="{FF2B5EF4-FFF2-40B4-BE49-F238E27FC236}">
                <a16:creationId xmlns:a16="http://schemas.microsoft.com/office/drawing/2014/main" id="{81DC41B1-6A55-F986-C482-192BC26B0CF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10924" y="228600"/>
            <a:ext cx="1780430" cy="17804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7" name="Google Shape;187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8" name="Google Shape;188;p20"/>
          <p:cNvSpPr txBox="1"/>
          <p:nvPr/>
        </p:nvSpPr>
        <p:spPr>
          <a:xfrm>
            <a:off x="571500" y="476250"/>
            <a:ext cx="5600700" cy="4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1" i="0" u="none" strike="noStrike" cap="none">
                <a:solidFill>
                  <a:srgbClr val="00B4D8"/>
                </a:solidFill>
                <a:latin typeface="Poppins"/>
                <a:ea typeface="Poppins"/>
                <a:cs typeface="Poppins"/>
                <a:sym typeface="Poppins"/>
              </a:rPr>
              <a:t>Variant Calling</a:t>
            </a:r>
            <a:endParaRPr/>
          </a:p>
        </p:txBody>
      </p:sp>
      <p:sp>
        <p:nvSpPr>
          <p:cNvPr id="190" name="Google Shape;190;p20"/>
          <p:cNvSpPr txBox="1"/>
          <p:nvPr/>
        </p:nvSpPr>
        <p:spPr>
          <a:xfrm>
            <a:off x="571500" y="1419225"/>
            <a:ext cx="5600700" cy="3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0" i="0" u="none" strike="noStrike" cap="none">
                <a:solidFill>
                  <a:srgbClr val="10B98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GATK Pipeline</a:t>
            </a:r>
            <a:endParaRPr/>
          </a:p>
        </p:txBody>
      </p:sp>
      <p:sp>
        <p:nvSpPr>
          <p:cNvPr id="191" name="Google Shape;191;p20"/>
          <p:cNvSpPr txBox="1"/>
          <p:nvPr/>
        </p:nvSpPr>
        <p:spPr>
          <a:xfrm>
            <a:off x="571499" y="1885950"/>
            <a:ext cx="8039763" cy="5886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0" i="0" u="none" strike="noStrike" cap="none" dirty="0">
                <a:solidFill>
                  <a:srgbClr val="9CA3AF"/>
                </a:solidFill>
                <a:latin typeface="Lato"/>
                <a:ea typeface="Lato"/>
                <a:cs typeface="Lato"/>
                <a:sym typeface="Lato"/>
              </a:rPr>
              <a:t>Processing alignments through GATK Best Practices: sorting reads, marking duplications, performing base quality recalibration (BQSR), and applying </a:t>
            </a:r>
            <a:r>
              <a:rPr lang="en-US" sz="1275" b="0" i="0" u="none" strike="noStrike" cap="none" dirty="0" err="1">
                <a:solidFill>
                  <a:srgbClr val="9CA3AF"/>
                </a:solidFill>
                <a:latin typeface="Lato"/>
                <a:ea typeface="Lato"/>
                <a:cs typeface="Lato"/>
                <a:sym typeface="Lato"/>
              </a:rPr>
              <a:t>HaplotypeCaller</a:t>
            </a:r>
            <a:r>
              <a:rPr lang="en-US" sz="1275" b="0" i="0" u="none" strike="noStrike" cap="none" dirty="0">
                <a:solidFill>
                  <a:srgbClr val="9CA3AF"/>
                </a:solidFill>
                <a:latin typeface="Lato"/>
                <a:ea typeface="Lato"/>
                <a:cs typeface="Lato"/>
                <a:sym typeface="Lato"/>
              </a:rPr>
              <a:t> to resolve genuine SNPs and small Indels.</a:t>
            </a:r>
            <a:endParaRPr dirty="0"/>
          </a:p>
        </p:txBody>
      </p:sp>
      <p:sp>
        <p:nvSpPr>
          <p:cNvPr id="192" name="Google Shape;192;p20"/>
          <p:cNvSpPr txBox="1"/>
          <p:nvPr/>
        </p:nvSpPr>
        <p:spPr>
          <a:xfrm>
            <a:off x="571499" y="2444798"/>
            <a:ext cx="5334000" cy="19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1" i="0" u="none" strike="noStrike" cap="none" dirty="0">
                <a:solidFill>
                  <a:srgbClr val="00B4D8"/>
                </a:solidFill>
                <a:latin typeface="Lato"/>
                <a:ea typeface="Lato"/>
                <a:cs typeface="Lato"/>
                <a:sym typeface="Lato"/>
              </a:rPr>
              <a:t>Application:</a:t>
            </a:r>
            <a:r>
              <a:rPr lang="en-US" sz="1275" b="0" i="0" u="none" strike="noStrike" cap="none" dirty="0">
                <a:solidFill>
                  <a:srgbClr val="9CA3AF"/>
                </a:solidFill>
                <a:latin typeface="Lato"/>
                <a:ea typeface="Lato"/>
                <a:cs typeface="Lato"/>
                <a:sym typeface="Lato"/>
              </a:rPr>
              <a:t> Translates raw reads to high-confidence molecular variants.</a:t>
            </a:r>
            <a:endParaRPr dirty="0"/>
          </a:p>
        </p:txBody>
      </p:sp>
      <p:pic>
        <p:nvPicPr>
          <p:cNvPr id="2" name="Picture 2" descr="bioinfo//shivani">
            <a:extLst>
              <a:ext uri="{FF2B5EF4-FFF2-40B4-BE49-F238E27FC236}">
                <a16:creationId xmlns:a16="http://schemas.microsoft.com/office/drawing/2014/main" id="{BEAC9C7E-0EAF-770C-945D-E4D409EA8F4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10924" y="228600"/>
            <a:ext cx="1780430" cy="17804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678872C-A922-93A5-4754-3C9BD734D647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b="20694"/>
          <a:stretch>
            <a:fillRect/>
          </a:stretch>
        </p:blipFill>
        <p:spPr>
          <a:xfrm>
            <a:off x="3124861" y="2989900"/>
            <a:ext cx="6341497" cy="3352773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7" name="Google Shape;197;p2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8" name="Google Shape;198;p2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190750"/>
            <a:ext cx="3333750" cy="3333750"/>
          </a:xfrm>
          <a:prstGeom prst="rect">
            <a:avLst/>
          </a:prstGeom>
          <a:noFill/>
          <a:ln>
            <a:noFill/>
          </a:ln>
        </p:spPr>
      </p:pic>
      <p:sp>
        <p:nvSpPr>
          <p:cNvPr id="199" name="Google Shape;199;p21"/>
          <p:cNvSpPr txBox="1"/>
          <p:nvPr/>
        </p:nvSpPr>
        <p:spPr>
          <a:xfrm>
            <a:off x="6334125" y="2595562"/>
            <a:ext cx="5550693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001F3F"/>
                </a:solidFill>
                <a:latin typeface="Merriweather"/>
                <a:ea typeface="Merriweather"/>
                <a:cs typeface="Merriweather"/>
                <a:sym typeface="Merriweather"/>
              </a:rPr>
              <a:t>3D Molecular Visualization</a:t>
            </a:r>
            <a:endParaRPr/>
          </a:p>
        </p:txBody>
      </p:sp>
      <p:sp>
        <p:nvSpPr>
          <p:cNvPr id="200" name="Google Shape;200;p21"/>
          <p:cNvSpPr txBox="1"/>
          <p:nvPr/>
        </p:nvSpPr>
        <p:spPr>
          <a:xfrm>
            <a:off x="6334125" y="3119437"/>
            <a:ext cx="5286375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Bioinformatics transitions from 1D strings to 3D physical models. We predict how proteins fold and how they interact with ligands.</a:t>
            </a:r>
            <a:endParaRPr/>
          </a:p>
        </p:txBody>
      </p:sp>
      <p:sp>
        <p:nvSpPr>
          <p:cNvPr id="201" name="Google Shape;201;p21"/>
          <p:cNvSpPr txBox="1"/>
          <p:nvPr/>
        </p:nvSpPr>
        <p:spPr>
          <a:xfrm>
            <a:off x="6334125" y="4119562"/>
            <a:ext cx="5286375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Molecular Docking:</a:t>
            </a:r>
            <a:r>
              <a:rPr lang="en-US" sz="150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Simulates the binding affinity of drug candidates to a protein target. Tools like AutoDock Vina calculate binding energy (ΔG).</a:t>
            </a:r>
            <a:endParaRPr/>
          </a:p>
        </p:txBody>
      </p:sp>
      <p:pic>
        <p:nvPicPr>
          <p:cNvPr id="202" name="Google Shape;202;p21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81025" y="2200275"/>
            <a:ext cx="3314700" cy="3314700"/>
          </a:xfrm>
          <a:prstGeom prst="rect">
            <a:avLst/>
          </a:prstGeom>
          <a:noFill/>
          <a:ln>
            <a:noFill/>
          </a:ln>
        </p:spPr>
      </p:pic>
      <p:sp>
        <p:nvSpPr>
          <p:cNvPr id="203" name="Google Shape;203;p21"/>
          <p:cNvSpPr txBox="1"/>
          <p:nvPr/>
        </p:nvSpPr>
        <p:spPr>
          <a:xfrm>
            <a:off x="762000" y="571500"/>
            <a:ext cx="11401425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001F3F"/>
                </a:solidFill>
                <a:latin typeface="Merriweather"/>
                <a:ea typeface="Merriweather"/>
                <a:cs typeface="Merriweather"/>
                <a:sym typeface="Merriweather"/>
              </a:rPr>
              <a:t>Phase 3: Structural Analysis</a:t>
            </a:r>
            <a:endParaRPr/>
          </a:p>
        </p:txBody>
      </p:sp>
      <p:sp>
        <p:nvSpPr>
          <p:cNvPr id="204" name="Google Shape;204;p21"/>
          <p:cNvSpPr/>
          <p:nvPr/>
        </p:nvSpPr>
        <p:spPr>
          <a:xfrm>
            <a:off x="571500" y="571500"/>
            <a:ext cx="57150" cy="476250"/>
          </a:xfrm>
          <a:prstGeom prst="rect">
            <a:avLst/>
          </a:prstGeom>
          <a:solidFill>
            <a:srgbClr val="11CAA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" name="Picture 2" descr="bioinfo//shivani">
            <a:extLst>
              <a:ext uri="{FF2B5EF4-FFF2-40B4-BE49-F238E27FC236}">
                <a16:creationId xmlns:a16="http://schemas.microsoft.com/office/drawing/2014/main" id="{AB76D97E-59D2-4C60-7E35-FBDDD1FAB27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10924" y="228600"/>
            <a:ext cx="1780430" cy="17804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" name="Google Shape;209;p2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0" name="Google Shape;210;p22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071687"/>
            <a:ext cx="3429000" cy="3571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1" name="Google Shape;211;p22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81500" y="2071687"/>
            <a:ext cx="3429000" cy="3571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2" name="Google Shape;212;p22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191500" y="2071687"/>
            <a:ext cx="3429000" cy="3571875"/>
          </a:xfrm>
          <a:prstGeom prst="rect">
            <a:avLst/>
          </a:prstGeom>
          <a:noFill/>
          <a:ln>
            <a:noFill/>
          </a:ln>
        </p:spPr>
      </p:pic>
      <p:sp>
        <p:nvSpPr>
          <p:cNvPr id="213" name="Google Shape;213;p22"/>
          <p:cNvSpPr txBox="1"/>
          <p:nvPr/>
        </p:nvSpPr>
        <p:spPr>
          <a:xfrm>
            <a:off x="870823" y="3157537"/>
            <a:ext cx="2830353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001F3F"/>
                </a:solidFill>
                <a:latin typeface="Merriweather"/>
                <a:ea typeface="Merriweather"/>
                <a:cs typeface="Merriweather"/>
                <a:sym typeface="Merriweather"/>
              </a:rPr>
              <a:t>Functional Insight</a:t>
            </a:r>
            <a:endParaRPr/>
          </a:p>
        </p:txBody>
      </p:sp>
      <p:sp>
        <p:nvSpPr>
          <p:cNvPr id="214" name="Google Shape;214;p22"/>
          <p:cNvSpPr txBox="1"/>
          <p:nvPr/>
        </p:nvSpPr>
        <p:spPr>
          <a:xfrm>
            <a:off x="866775" y="3681412"/>
            <a:ext cx="283845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Mapping genes to biological pathways (KEGG/Reactome) to understand the "Big Picture" of cellular processes.</a:t>
            </a:r>
            <a:endParaRPr/>
          </a:p>
        </p:txBody>
      </p:sp>
      <p:sp>
        <p:nvSpPr>
          <p:cNvPr id="215" name="Google Shape;215;p22"/>
          <p:cNvSpPr txBox="1"/>
          <p:nvPr/>
        </p:nvSpPr>
        <p:spPr>
          <a:xfrm>
            <a:off x="5325903" y="3157537"/>
            <a:ext cx="1540192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001F3F"/>
                </a:solidFill>
                <a:latin typeface="Merriweather"/>
                <a:ea typeface="Merriweather"/>
                <a:cs typeface="Merriweather"/>
                <a:sym typeface="Merriweather"/>
              </a:rPr>
              <a:t>Validation</a:t>
            </a:r>
            <a:endParaRPr/>
          </a:p>
        </p:txBody>
      </p:sp>
      <p:sp>
        <p:nvSpPr>
          <p:cNvPr id="216" name="Google Shape;216;p22"/>
          <p:cNvSpPr txBox="1"/>
          <p:nvPr/>
        </p:nvSpPr>
        <p:spPr>
          <a:xfrm>
            <a:off x="4676775" y="3681412"/>
            <a:ext cx="283845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Bioinformatics results (</a:t>
            </a:r>
            <a:r>
              <a:rPr lang="en-US" sz="1500" b="0" i="1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in silico</a:t>
            </a:r>
            <a:r>
              <a:rPr lang="en-US" sz="150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) are cross-referenced with experimental lab data (</a:t>
            </a:r>
            <a:r>
              <a:rPr lang="en-US" sz="1500" b="0" i="1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in vitro</a:t>
            </a:r>
            <a:r>
              <a:rPr lang="en-US" sz="150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) for confirmation.</a:t>
            </a:r>
            <a:endParaRPr/>
          </a:p>
        </p:txBody>
      </p:sp>
      <p:sp>
        <p:nvSpPr>
          <p:cNvPr id="217" name="Google Shape;217;p22"/>
          <p:cNvSpPr txBox="1"/>
          <p:nvPr/>
        </p:nvSpPr>
        <p:spPr>
          <a:xfrm>
            <a:off x="8415813" y="3157537"/>
            <a:ext cx="2980372" cy="7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001F3F"/>
                </a:solidFill>
                <a:latin typeface="Merriweather"/>
                <a:ea typeface="Merriweather"/>
                <a:cs typeface="Merriweather"/>
                <a:sym typeface="Merriweather"/>
              </a:rPr>
              <a:t>Scientific Publication</a:t>
            </a:r>
            <a:endParaRPr/>
          </a:p>
        </p:txBody>
      </p:sp>
      <p:sp>
        <p:nvSpPr>
          <p:cNvPr id="218" name="Google Shape;218;p22"/>
          <p:cNvSpPr txBox="1"/>
          <p:nvPr/>
        </p:nvSpPr>
        <p:spPr>
          <a:xfrm>
            <a:off x="8486775" y="4062412"/>
            <a:ext cx="283845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Sharing findings via journals and depositing sequences into open-access repositories (GenBank/PDB).</a:t>
            </a:r>
            <a:endParaRPr/>
          </a:p>
        </p:txBody>
      </p:sp>
      <p:pic>
        <p:nvPicPr>
          <p:cNvPr id="219" name="Google Shape;219;p22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2000250" y="2424112"/>
            <a:ext cx="5715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0" name="Google Shape;220;p22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867400" y="2424112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1" name="Google Shape;221;p22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9648825" y="2424112"/>
            <a:ext cx="51435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222" name="Google Shape;222;p22"/>
          <p:cNvSpPr txBox="1"/>
          <p:nvPr/>
        </p:nvSpPr>
        <p:spPr>
          <a:xfrm>
            <a:off x="762000" y="571500"/>
            <a:ext cx="11401425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001F3F"/>
                </a:solidFill>
                <a:latin typeface="Merriweather"/>
                <a:ea typeface="Merriweather"/>
                <a:cs typeface="Merriweather"/>
                <a:sym typeface="Merriweather"/>
              </a:rPr>
              <a:t>Phase 4: Interpretation &amp; Publication</a:t>
            </a:r>
            <a:endParaRPr/>
          </a:p>
        </p:txBody>
      </p:sp>
      <p:sp>
        <p:nvSpPr>
          <p:cNvPr id="223" name="Google Shape;223;p22"/>
          <p:cNvSpPr/>
          <p:nvPr/>
        </p:nvSpPr>
        <p:spPr>
          <a:xfrm>
            <a:off x="571500" y="571500"/>
            <a:ext cx="57150" cy="476250"/>
          </a:xfrm>
          <a:prstGeom prst="rect">
            <a:avLst/>
          </a:prstGeom>
          <a:solidFill>
            <a:srgbClr val="11CAA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" name="Picture 2" descr="bioinfo//shivani">
            <a:extLst>
              <a:ext uri="{FF2B5EF4-FFF2-40B4-BE49-F238E27FC236}">
                <a16:creationId xmlns:a16="http://schemas.microsoft.com/office/drawing/2014/main" id="{890070F5-1448-08E4-AE15-F856E3DF1DE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10924" y="148382"/>
            <a:ext cx="1780430" cy="17804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8" name="Google Shape;228;p2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29" name="Google Shape;229;p23"/>
          <p:cNvSpPr/>
          <p:nvPr/>
        </p:nvSpPr>
        <p:spPr>
          <a:xfrm>
            <a:off x="5619750" y="2709862"/>
            <a:ext cx="952500" cy="47625"/>
          </a:xfrm>
          <a:prstGeom prst="rect">
            <a:avLst/>
          </a:prstGeom>
          <a:solidFill>
            <a:srgbClr val="11CAA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23"/>
          <p:cNvSpPr txBox="1"/>
          <p:nvPr/>
        </p:nvSpPr>
        <p:spPr>
          <a:xfrm>
            <a:off x="295275" y="3043237"/>
            <a:ext cx="11601450" cy="714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500" b="1" i="0" u="none" strike="noStrike" cap="none">
                <a:solidFill>
                  <a:srgbClr val="FDFCF0"/>
                </a:solidFill>
                <a:latin typeface="Merriweather"/>
                <a:ea typeface="Merriweather"/>
                <a:cs typeface="Merriweather"/>
                <a:sym typeface="Merriweather"/>
              </a:rPr>
              <a:t>Real Research Examples</a:t>
            </a:r>
            <a:endParaRPr/>
          </a:p>
        </p:txBody>
      </p:sp>
      <p:sp>
        <p:nvSpPr>
          <p:cNvPr id="231" name="Google Shape;231;p23"/>
          <p:cNvSpPr txBox="1"/>
          <p:nvPr/>
        </p:nvSpPr>
        <p:spPr>
          <a:xfrm>
            <a:off x="571500" y="3948112"/>
            <a:ext cx="110490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FDFCF0"/>
                </a:solidFill>
                <a:latin typeface="DM Sans"/>
                <a:ea typeface="DM Sans"/>
                <a:cs typeface="DM Sans"/>
                <a:sym typeface="DM Sans"/>
              </a:rPr>
              <a:t>Applying the Workflow to Global Challenges</a:t>
            </a:r>
            <a:endParaRPr/>
          </a:p>
        </p:txBody>
      </p:sp>
      <p:pic>
        <p:nvPicPr>
          <p:cNvPr id="2" name="Picture 2" descr="bioinfo//shivani">
            <a:extLst>
              <a:ext uri="{FF2B5EF4-FFF2-40B4-BE49-F238E27FC236}">
                <a16:creationId xmlns:a16="http://schemas.microsoft.com/office/drawing/2014/main" id="{A6B9C0DB-69FD-2851-4D51-058C4E4FD5A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10924" y="228600"/>
            <a:ext cx="1780430" cy="17804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6" name="Google Shape;236;p2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37" name="Google Shape;237;p24"/>
          <p:cNvSpPr txBox="1"/>
          <p:nvPr/>
        </p:nvSpPr>
        <p:spPr>
          <a:xfrm>
            <a:off x="571500" y="4929187"/>
            <a:ext cx="1104900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Result:</a:t>
            </a:r>
            <a:r>
              <a:rPr lang="en-US" sz="135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Identification of unique biomarkers leads to personalized oncology treatment plans.</a:t>
            </a:r>
            <a:endParaRPr/>
          </a:p>
        </p:txBody>
      </p:sp>
      <p:sp>
        <p:nvSpPr>
          <p:cNvPr id="238" name="Google Shape;238;p24"/>
          <p:cNvSpPr/>
          <p:nvPr/>
        </p:nvSpPr>
        <p:spPr>
          <a:xfrm>
            <a:off x="571500" y="2386012"/>
            <a:ext cx="11049000" cy="2352675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9525" cap="flat" cmpd="sng">
            <a:solidFill>
              <a:srgbClr val="4A7DBA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39" name="Google Shape;239;p24"/>
          <p:cNvGraphicFramePr/>
          <p:nvPr/>
        </p:nvGraphicFramePr>
        <p:xfrm>
          <a:off x="571500" y="2386012"/>
          <a:ext cx="11049000" cy="2352700"/>
        </p:xfrm>
        <a:graphic>
          <a:graphicData uri="http://schemas.openxmlformats.org/drawingml/2006/table">
            <a:tbl>
              <a:tblPr firstRow="1" bandRow="1">
                <a:noFill/>
              </a:tblPr>
              <a:tblGrid>
                <a:gridCol w="2368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86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493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881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FDFCF0"/>
                          </a:solidFill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Workflow Stage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1F3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FDFCF0"/>
                          </a:solidFill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Cancer Research Application (NSCLC)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1F3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FDFCF0"/>
                          </a:solidFill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Bioinformatics Tool Used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1F3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81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Data Collection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Tumor vs. Normal patient biopsy sequencing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Illumina NGS / TCGA Database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81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Sequence Analysis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Identifying driver mutations (e.g., EGFR)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GATK HaplotypeCaller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881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Interpretation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Predicting patient response to targeted therapy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COSMIC / Gene Ontology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40" name="Google Shape;240;p24"/>
          <p:cNvSpPr/>
          <p:nvPr/>
        </p:nvSpPr>
        <p:spPr>
          <a:xfrm>
            <a:off x="571500" y="2952750"/>
            <a:ext cx="236845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24"/>
          <p:cNvSpPr/>
          <p:nvPr/>
        </p:nvSpPr>
        <p:spPr>
          <a:xfrm>
            <a:off x="2939950" y="2952750"/>
            <a:ext cx="518695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24"/>
          <p:cNvSpPr/>
          <p:nvPr/>
        </p:nvSpPr>
        <p:spPr>
          <a:xfrm>
            <a:off x="8126908" y="2952750"/>
            <a:ext cx="3493591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24"/>
          <p:cNvSpPr/>
          <p:nvPr/>
        </p:nvSpPr>
        <p:spPr>
          <a:xfrm>
            <a:off x="571500" y="3543300"/>
            <a:ext cx="236845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24"/>
          <p:cNvSpPr/>
          <p:nvPr/>
        </p:nvSpPr>
        <p:spPr>
          <a:xfrm>
            <a:off x="2939950" y="3543300"/>
            <a:ext cx="518695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24"/>
          <p:cNvSpPr/>
          <p:nvPr/>
        </p:nvSpPr>
        <p:spPr>
          <a:xfrm>
            <a:off x="8126908" y="3543300"/>
            <a:ext cx="3493591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24"/>
          <p:cNvSpPr/>
          <p:nvPr/>
        </p:nvSpPr>
        <p:spPr>
          <a:xfrm>
            <a:off x="571500" y="4133850"/>
            <a:ext cx="236845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24"/>
          <p:cNvSpPr/>
          <p:nvPr/>
        </p:nvSpPr>
        <p:spPr>
          <a:xfrm>
            <a:off x="2939950" y="4133850"/>
            <a:ext cx="518695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24"/>
          <p:cNvSpPr/>
          <p:nvPr/>
        </p:nvSpPr>
        <p:spPr>
          <a:xfrm>
            <a:off x="8126908" y="4133850"/>
            <a:ext cx="3493591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24"/>
          <p:cNvSpPr/>
          <p:nvPr/>
        </p:nvSpPr>
        <p:spPr>
          <a:xfrm>
            <a:off x="571500" y="4724400"/>
            <a:ext cx="236845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24"/>
          <p:cNvSpPr/>
          <p:nvPr/>
        </p:nvSpPr>
        <p:spPr>
          <a:xfrm>
            <a:off x="2939950" y="4724400"/>
            <a:ext cx="518695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24"/>
          <p:cNvSpPr/>
          <p:nvPr/>
        </p:nvSpPr>
        <p:spPr>
          <a:xfrm>
            <a:off x="8126908" y="4724400"/>
            <a:ext cx="3493591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24"/>
          <p:cNvSpPr txBox="1"/>
          <p:nvPr/>
        </p:nvSpPr>
        <p:spPr>
          <a:xfrm>
            <a:off x="762000" y="571500"/>
            <a:ext cx="11401425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001F3F"/>
                </a:solidFill>
                <a:latin typeface="Merriweather"/>
                <a:ea typeface="Merriweather"/>
                <a:cs typeface="Merriweather"/>
                <a:sym typeface="Merriweather"/>
              </a:rPr>
              <a:t>Case Study 1: Disease Research</a:t>
            </a:r>
            <a:endParaRPr/>
          </a:p>
        </p:txBody>
      </p:sp>
      <p:sp>
        <p:nvSpPr>
          <p:cNvPr id="253" name="Google Shape;253;p24"/>
          <p:cNvSpPr/>
          <p:nvPr/>
        </p:nvSpPr>
        <p:spPr>
          <a:xfrm>
            <a:off x="571500" y="571500"/>
            <a:ext cx="57150" cy="476250"/>
          </a:xfrm>
          <a:prstGeom prst="rect">
            <a:avLst/>
          </a:prstGeom>
          <a:solidFill>
            <a:srgbClr val="11CAA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8" name="Google Shape;258;p2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9" name="Google Shape;259;p2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428750"/>
            <a:ext cx="11049000" cy="4857750"/>
          </a:xfrm>
          <a:prstGeom prst="rect">
            <a:avLst/>
          </a:prstGeom>
          <a:noFill/>
          <a:ln>
            <a:noFill/>
          </a:ln>
        </p:spPr>
      </p:pic>
      <p:sp>
        <p:nvSpPr>
          <p:cNvPr id="260" name="Google Shape;260;p25"/>
          <p:cNvSpPr txBox="1"/>
          <p:nvPr/>
        </p:nvSpPr>
        <p:spPr>
          <a:xfrm>
            <a:off x="2805112" y="4238625"/>
            <a:ext cx="6581775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1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Computational pipelines accelerate lead identification from years to weeks.</a:t>
            </a:r>
            <a:endParaRPr/>
          </a:p>
        </p:txBody>
      </p:sp>
      <p:sp>
        <p:nvSpPr>
          <p:cNvPr id="261" name="Google Shape;261;p25"/>
          <p:cNvSpPr txBox="1"/>
          <p:nvPr/>
        </p:nvSpPr>
        <p:spPr>
          <a:xfrm>
            <a:off x="762000" y="571500"/>
            <a:ext cx="11401425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001F3F"/>
                </a:solidFill>
                <a:latin typeface="Merriweather"/>
                <a:ea typeface="Merriweather"/>
                <a:cs typeface="Merriweather"/>
                <a:sym typeface="Merriweather"/>
              </a:rPr>
              <a:t>Case Study 2: Drug Discovery Efficiency</a:t>
            </a:r>
            <a:endParaRPr/>
          </a:p>
        </p:txBody>
      </p:sp>
      <p:sp>
        <p:nvSpPr>
          <p:cNvPr id="262" name="Google Shape;262;p25"/>
          <p:cNvSpPr/>
          <p:nvPr/>
        </p:nvSpPr>
        <p:spPr>
          <a:xfrm>
            <a:off x="571500" y="571500"/>
            <a:ext cx="57150" cy="476250"/>
          </a:xfrm>
          <a:prstGeom prst="rect">
            <a:avLst/>
          </a:prstGeom>
          <a:solidFill>
            <a:srgbClr val="11CAA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" name="Picture 2" descr="bioinfo//shivani">
            <a:extLst>
              <a:ext uri="{FF2B5EF4-FFF2-40B4-BE49-F238E27FC236}">
                <a16:creationId xmlns:a16="http://schemas.microsoft.com/office/drawing/2014/main" id="{6BECE18F-754C-BDDF-02CB-8649FA19B23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10924" y="228600"/>
            <a:ext cx="1780430" cy="17804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7" name="Google Shape;267;p2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68" name="Google Shape;268;p26"/>
          <p:cNvSpPr txBox="1"/>
          <p:nvPr/>
        </p:nvSpPr>
        <p:spPr>
          <a:xfrm>
            <a:off x="762000" y="1257300"/>
            <a:ext cx="5000625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001F3F"/>
                </a:solidFill>
                <a:latin typeface="Merriweather"/>
                <a:ea typeface="Merriweather"/>
                <a:cs typeface="Merriweather"/>
                <a:sym typeface="Merriweather"/>
              </a:rPr>
              <a:t>Case 3: Vaccine Design</a:t>
            </a:r>
            <a:endParaRPr/>
          </a:p>
        </p:txBody>
      </p:sp>
      <p:sp>
        <p:nvSpPr>
          <p:cNvPr id="269" name="Google Shape;269;p26"/>
          <p:cNvSpPr txBox="1"/>
          <p:nvPr/>
        </p:nvSpPr>
        <p:spPr>
          <a:xfrm>
            <a:off x="571500" y="2114550"/>
            <a:ext cx="4953000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Reverse Vaccinology:</a:t>
            </a:r>
            <a:r>
              <a:rPr lang="en-US" sz="150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Using bioinformatics to scan entire pathogen genomes for potential vaccine candidates without growing the virus.</a:t>
            </a:r>
            <a:endParaRPr/>
          </a:p>
        </p:txBody>
      </p:sp>
      <p:sp>
        <p:nvSpPr>
          <p:cNvPr id="270" name="Google Shape;270;p26"/>
          <p:cNvSpPr txBox="1"/>
          <p:nvPr/>
        </p:nvSpPr>
        <p:spPr>
          <a:xfrm>
            <a:off x="571500" y="3114675"/>
            <a:ext cx="49530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During the COVID-19 pandemic, epitope mapping allowed for the rapid design of mRNA vaccines in record time by identifying spike protein regions that trigger the strongest immune response.</a:t>
            </a:r>
            <a:endParaRPr/>
          </a:p>
        </p:txBody>
      </p:sp>
      <p:sp>
        <p:nvSpPr>
          <p:cNvPr id="271" name="Google Shape;271;p26"/>
          <p:cNvSpPr txBox="1"/>
          <p:nvPr/>
        </p:nvSpPr>
        <p:spPr>
          <a:xfrm>
            <a:off x="695325" y="4572000"/>
            <a:ext cx="66675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272" name="Google Shape;272;p26"/>
          <p:cNvSpPr txBox="1"/>
          <p:nvPr/>
        </p:nvSpPr>
        <p:spPr>
          <a:xfrm>
            <a:off x="762000" y="4572000"/>
            <a:ext cx="476250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6675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Sequence surveillance of variants.</a:t>
            </a:r>
            <a:endParaRPr/>
          </a:p>
        </p:txBody>
      </p:sp>
      <p:sp>
        <p:nvSpPr>
          <p:cNvPr id="273" name="Google Shape;273;p26"/>
          <p:cNvSpPr txBox="1"/>
          <p:nvPr/>
        </p:nvSpPr>
        <p:spPr>
          <a:xfrm>
            <a:off x="695325" y="4857750"/>
            <a:ext cx="66675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274" name="Google Shape;274;p26"/>
          <p:cNvSpPr txBox="1"/>
          <p:nvPr/>
        </p:nvSpPr>
        <p:spPr>
          <a:xfrm>
            <a:off x="762000" y="4857750"/>
            <a:ext cx="476250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6675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Structural prediction of protein binding.</a:t>
            </a:r>
            <a:endParaRPr/>
          </a:p>
        </p:txBody>
      </p:sp>
      <p:sp>
        <p:nvSpPr>
          <p:cNvPr id="275" name="Google Shape;275;p26"/>
          <p:cNvSpPr txBox="1"/>
          <p:nvPr/>
        </p:nvSpPr>
        <p:spPr>
          <a:xfrm>
            <a:off x="695325" y="5143500"/>
            <a:ext cx="66675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276" name="Google Shape;276;p26"/>
          <p:cNvSpPr txBox="1"/>
          <p:nvPr/>
        </p:nvSpPr>
        <p:spPr>
          <a:xfrm>
            <a:off x="762000" y="5143500"/>
            <a:ext cx="476250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6675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Population coverage analysis.</a:t>
            </a:r>
            <a:endParaRPr/>
          </a:p>
        </p:txBody>
      </p:sp>
      <p:pic>
        <p:nvPicPr>
          <p:cNvPr id="277" name="Google Shape;277;p26" descr="image.png"/>
          <p:cNvPicPr preferRelativeResize="0"/>
          <p:nvPr/>
        </p:nvPicPr>
        <p:blipFill rotWithShape="1">
          <a:blip r:embed="rId4">
            <a:alphaModFix/>
          </a:blip>
          <a:srcRect l="-880" t="-4870" r="880" b="4870"/>
          <a:stretch/>
        </p:blipFill>
        <p:spPr>
          <a:xfrm>
            <a:off x="6234750" y="0"/>
            <a:ext cx="5957250" cy="670190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2"/>
        </a:solidFill>
        <a:effectLst/>
      </p:bgPr>
    </p:bg>
    <p:spTree>
      <p:nvGrpSpPr>
        <p:cNvPr id="1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9" name="Google Shape;229;p2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30" name="Google Shape;230;p24"/>
          <p:cNvSpPr txBox="1"/>
          <p:nvPr/>
        </p:nvSpPr>
        <p:spPr>
          <a:xfrm>
            <a:off x="3220640" y="2288827"/>
            <a:ext cx="5750718" cy="8228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b="1" i="0" u="none" strike="noStrike" cap="none">
                <a:solidFill>
                  <a:srgbClr val="64FFDA"/>
                </a:solidFill>
                <a:latin typeface="Merriweather"/>
                <a:ea typeface="Merriweather"/>
                <a:cs typeface="Merriweather"/>
                <a:sym typeface="Merriweather"/>
              </a:rPr>
              <a:t>Q&amp;A</a:t>
            </a:r>
            <a:endParaRPr/>
          </a:p>
        </p:txBody>
      </p:sp>
      <p:sp>
        <p:nvSpPr>
          <p:cNvPr id="231" name="Google Shape;231;p24"/>
          <p:cNvSpPr txBox="1"/>
          <p:nvPr/>
        </p:nvSpPr>
        <p:spPr>
          <a:xfrm>
            <a:off x="3357562" y="3111698"/>
            <a:ext cx="5476875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CCD6F6"/>
                </a:solidFill>
                <a:latin typeface="Lato Light"/>
                <a:ea typeface="Lato Light"/>
                <a:cs typeface="Lato Light"/>
                <a:sym typeface="Lato Light"/>
              </a:rPr>
              <a:t>Synthesis &amp; Critical Inquiries</a:t>
            </a:r>
            <a:endParaRPr/>
          </a:p>
        </p:txBody>
      </p:sp>
      <p:sp>
        <p:nvSpPr>
          <p:cNvPr id="232" name="Google Shape;232;p24"/>
          <p:cNvSpPr txBox="1"/>
          <p:nvPr/>
        </p:nvSpPr>
        <p:spPr>
          <a:xfrm>
            <a:off x="3357562" y="3873698"/>
            <a:ext cx="5476875" cy="238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8892B0"/>
                </a:solidFill>
                <a:latin typeface="Lato Light"/>
                <a:ea typeface="Lato Light"/>
                <a:cs typeface="Lato Light"/>
                <a:sym typeface="Lato Light"/>
              </a:rPr>
              <a:t>Access the scientific literature via PubMed for further investigation.</a:t>
            </a:r>
            <a:endParaRPr/>
          </a:p>
        </p:txBody>
      </p:sp>
      <p:sp>
        <p:nvSpPr>
          <p:cNvPr id="233" name="Google Shape;233;p24"/>
          <p:cNvSpPr txBox="1"/>
          <p:nvPr/>
        </p:nvSpPr>
        <p:spPr>
          <a:xfrm>
            <a:off x="3357562" y="4226123"/>
            <a:ext cx="5476875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64FFDA"/>
                </a:solidFill>
                <a:latin typeface="Arial"/>
                <a:ea typeface="Arial"/>
                <a:cs typeface="Arial"/>
                <a:sym typeface="Arial"/>
              </a:rPr>
              <a:t>www.ncbi.nlm.nih.gov/pubmed</a:t>
            </a:r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92F"/>
        </a:solidFill>
        <a:effectLst/>
      </p:bgPr>
    </p:bg>
    <p:spTree>
      <p:nvGrpSpPr>
        <p:cNvPr id="1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8" name="Google Shape;238;p2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39" name="Google Shape;239;p25"/>
          <p:cNvSpPr/>
          <p:nvPr/>
        </p:nvSpPr>
        <p:spPr>
          <a:xfrm>
            <a:off x="571500" y="2421135"/>
            <a:ext cx="11049000" cy="771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25"/>
          <p:cNvSpPr/>
          <p:nvPr/>
        </p:nvSpPr>
        <p:spPr>
          <a:xfrm>
            <a:off x="571500" y="3192660"/>
            <a:ext cx="11049000" cy="771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25"/>
          <p:cNvSpPr/>
          <p:nvPr/>
        </p:nvSpPr>
        <p:spPr>
          <a:xfrm>
            <a:off x="571500" y="3964185"/>
            <a:ext cx="11049000" cy="771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25"/>
          <p:cNvSpPr/>
          <p:nvPr/>
        </p:nvSpPr>
        <p:spPr>
          <a:xfrm>
            <a:off x="571500" y="3183135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25"/>
          <p:cNvSpPr/>
          <p:nvPr/>
        </p:nvSpPr>
        <p:spPr>
          <a:xfrm>
            <a:off x="571500" y="3183135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25"/>
          <p:cNvSpPr/>
          <p:nvPr/>
        </p:nvSpPr>
        <p:spPr>
          <a:xfrm>
            <a:off x="571500" y="3954660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25"/>
          <p:cNvSpPr/>
          <p:nvPr/>
        </p:nvSpPr>
        <p:spPr>
          <a:xfrm>
            <a:off x="571500" y="3954660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25"/>
          <p:cNvSpPr/>
          <p:nvPr/>
        </p:nvSpPr>
        <p:spPr>
          <a:xfrm>
            <a:off x="571500" y="4726185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25"/>
          <p:cNvSpPr/>
          <p:nvPr/>
        </p:nvSpPr>
        <p:spPr>
          <a:xfrm>
            <a:off x="571500" y="4726185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48" name="Google Shape;248;p2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564010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49" name="Google Shape;249;p25"/>
          <p:cNvSpPr txBox="1"/>
          <p:nvPr/>
        </p:nvSpPr>
        <p:spPr>
          <a:xfrm>
            <a:off x="1666875" y="2606873"/>
            <a:ext cx="9953625" cy="1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8892B0"/>
                </a:solidFill>
                <a:latin typeface="Lato Light"/>
                <a:ea typeface="Lato Light"/>
                <a:cs typeface="Lato Light"/>
                <a:sym typeface="Lato Light"/>
              </a:rPr>
              <a:t>https://images.ctfassets.net/ifq1osqu2ba1/4tqNiGRHr6Kvy98mWneyHE/5e996930c7b7e5c56d55f201f06bd7a0/alignment.png</a:t>
            </a:r>
            <a:endParaRPr/>
          </a:p>
        </p:txBody>
      </p:sp>
      <p:sp>
        <p:nvSpPr>
          <p:cNvPr id="250" name="Google Shape;250;p25"/>
          <p:cNvSpPr txBox="1"/>
          <p:nvPr/>
        </p:nvSpPr>
        <p:spPr>
          <a:xfrm>
            <a:off x="1666875" y="2806898"/>
            <a:ext cx="9953625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8892B0"/>
                </a:solidFill>
                <a:latin typeface="Lato Light"/>
                <a:ea typeface="Lato Light"/>
                <a:cs typeface="Lato Light"/>
                <a:sym typeface="Lato Light"/>
              </a:rPr>
              <a:t>Source: </a:t>
            </a:r>
            <a:r>
              <a:rPr lang="en-US" sz="1200" b="0" i="0" u="none" strike="noStrike" cap="none">
                <a:solidFill>
                  <a:srgbClr val="4F46E5"/>
                </a:solidFill>
                <a:latin typeface="Lato Light"/>
                <a:ea typeface="Lato Light"/>
                <a:cs typeface="Lato Light"/>
                <a:sym typeface="Lato Light"/>
              </a:rPr>
              <a:t>www.geneious.com</a:t>
            </a:r>
            <a:endParaRPr/>
          </a:p>
        </p:txBody>
      </p:sp>
      <p:pic>
        <p:nvPicPr>
          <p:cNvPr id="251" name="Google Shape;251;p2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3335535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52" name="Google Shape;252;p25"/>
          <p:cNvSpPr txBox="1"/>
          <p:nvPr/>
        </p:nvSpPr>
        <p:spPr>
          <a:xfrm>
            <a:off x="1666875" y="3378398"/>
            <a:ext cx="9953625" cy="1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8892B0"/>
                </a:solidFill>
                <a:latin typeface="Lato Light"/>
                <a:ea typeface="Lato Light"/>
                <a:cs typeface="Lato Light"/>
                <a:sym typeface="Lato Light"/>
              </a:rPr>
              <a:t>https://bioinformatics.ccr.cancer.gov/docs/data-visualization-with-r/images/pheatmap_airway.png</a:t>
            </a:r>
            <a:endParaRPr/>
          </a:p>
        </p:txBody>
      </p:sp>
      <p:sp>
        <p:nvSpPr>
          <p:cNvPr id="253" name="Google Shape;253;p25"/>
          <p:cNvSpPr txBox="1"/>
          <p:nvPr/>
        </p:nvSpPr>
        <p:spPr>
          <a:xfrm>
            <a:off x="1666875" y="3578423"/>
            <a:ext cx="9953625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8892B0"/>
                </a:solidFill>
                <a:latin typeface="Lato Light"/>
                <a:ea typeface="Lato Light"/>
                <a:cs typeface="Lato Light"/>
                <a:sym typeface="Lato Light"/>
              </a:rPr>
              <a:t>Source: </a:t>
            </a:r>
            <a:r>
              <a:rPr lang="en-US" sz="1200" b="0" i="0" u="none" strike="noStrike" cap="none">
                <a:solidFill>
                  <a:srgbClr val="4F46E5"/>
                </a:solidFill>
                <a:latin typeface="Lato Light"/>
                <a:ea typeface="Lato Light"/>
                <a:cs typeface="Lato Light"/>
                <a:sym typeface="Lato Light"/>
              </a:rPr>
              <a:t>bioinformatics.ccr.cancer.gov</a:t>
            </a:r>
            <a:endParaRPr/>
          </a:p>
        </p:txBody>
      </p:sp>
      <p:pic>
        <p:nvPicPr>
          <p:cNvPr id="254" name="Google Shape;254;p2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4107060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55" name="Google Shape;255;p25"/>
          <p:cNvSpPr txBox="1"/>
          <p:nvPr/>
        </p:nvSpPr>
        <p:spPr>
          <a:xfrm>
            <a:off x="1666875" y="4149923"/>
            <a:ext cx="9953625" cy="1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8892B0"/>
                </a:solidFill>
                <a:latin typeface="Lato Light"/>
                <a:ea typeface="Lato Light"/>
                <a:cs typeface="Lato Light"/>
                <a:sym typeface="Lato Light"/>
              </a:rPr>
              <a:t>https://cdn.rcsb.org/rcsb-pdb/content/69d556066c4fcd38cafe9464/3pgk-representations.jpg</a:t>
            </a:r>
            <a:endParaRPr/>
          </a:p>
        </p:txBody>
      </p:sp>
      <p:sp>
        <p:nvSpPr>
          <p:cNvPr id="256" name="Google Shape;256;p25"/>
          <p:cNvSpPr txBox="1"/>
          <p:nvPr/>
        </p:nvSpPr>
        <p:spPr>
          <a:xfrm>
            <a:off x="1666875" y="4349948"/>
            <a:ext cx="9953625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8892B0"/>
                </a:solidFill>
                <a:latin typeface="Lato Light"/>
                <a:ea typeface="Lato Light"/>
                <a:cs typeface="Lato Light"/>
                <a:sym typeface="Lato Light"/>
              </a:rPr>
              <a:t>Source: </a:t>
            </a:r>
            <a:r>
              <a:rPr lang="en-US" sz="1200" b="0" i="0" u="none" strike="noStrike" cap="none">
                <a:solidFill>
                  <a:srgbClr val="4F46E5"/>
                </a:solidFill>
                <a:latin typeface="Lato Light"/>
                <a:ea typeface="Lato Light"/>
                <a:cs typeface="Lato Light"/>
                <a:sym typeface="Lato Light"/>
              </a:rPr>
              <a:t>pdb101.rcsb.org</a:t>
            </a:r>
            <a:endParaRPr/>
          </a:p>
        </p:txBody>
      </p:sp>
      <p:pic>
        <p:nvPicPr>
          <p:cNvPr id="257" name="Google Shape;257;p25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71500" y="4878585"/>
            <a:ext cx="1362075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58" name="Google Shape;258;p25"/>
          <p:cNvSpPr txBox="1"/>
          <p:nvPr/>
        </p:nvSpPr>
        <p:spPr>
          <a:xfrm>
            <a:off x="1666875" y="4921448"/>
            <a:ext cx="9953625" cy="1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8892B0"/>
                </a:solidFill>
                <a:latin typeface="Lato Light"/>
                <a:ea typeface="Lato Light"/>
                <a:cs typeface="Lato Light"/>
                <a:sym typeface="Lato Light"/>
              </a:rPr>
              <a:t>https://journals.plos.org/ploscompbiol/article/figure/image?size=medium&amp;id=10.1371/journal.pcbi.1010205.g001</a:t>
            </a:r>
            <a:endParaRPr/>
          </a:p>
        </p:txBody>
      </p:sp>
      <p:sp>
        <p:nvSpPr>
          <p:cNvPr id="259" name="Google Shape;259;p25"/>
          <p:cNvSpPr txBox="1"/>
          <p:nvPr/>
        </p:nvSpPr>
        <p:spPr>
          <a:xfrm>
            <a:off x="1666875" y="5121473"/>
            <a:ext cx="9953625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8892B0"/>
                </a:solidFill>
                <a:latin typeface="Lato Light"/>
                <a:ea typeface="Lato Light"/>
                <a:cs typeface="Lato Light"/>
                <a:sym typeface="Lato Light"/>
              </a:rPr>
              <a:t>Source: </a:t>
            </a:r>
            <a:r>
              <a:rPr lang="en-US" sz="1200" b="0" i="0" u="none" strike="noStrike" cap="none">
                <a:solidFill>
                  <a:srgbClr val="4F46E5"/>
                </a:solidFill>
                <a:latin typeface="Lato Light"/>
                <a:ea typeface="Lato Light"/>
                <a:cs typeface="Lato Light"/>
                <a:sym typeface="Lato Light"/>
              </a:rPr>
              <a:t>journals.plos.org</a:t>
            </a:r>
            <a:endParaRPr/>
          </a:p>
        </p:txBody>
      </p:sp>
      <p:sp>
        <p:nvSpPr>
          <p:cNvPr id="260" name="Google Shape;260;p25"/>
          <p:cNvSpPr txBox="1"/>
          <p:nvPr/>
        </p:nvSpPr>
        <p:spPr>
          <a:xfrm>
            <a:off x="571500" y="571500"/>
            <a:ext cx="11601450" cy="4894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6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0" i="0" u="none" strike="noStrike" cap="none">
                <a:solidFill>
                  <a:srgbClr val="64FFDA"/>
                </a:solidFill>
                <a:latin typeface="Merriweather"/>
                <a:ea typeface="Merriweather"/>
                <a:cs typeface="Merriweather"/>
                <a:sym typeface="Merriweather"/>
              </a:rPr>
              <a:t>Image Sources</a:t>
            </a:r>
            <a:endParaRPr/>
          </a:p>
        </p:txBody>
      </p:sp>
      <p:sp>
        <p:nvSpPr>
          <p:cNvPr id="261" name="Google Shape;261;p25"/>
          <p:cNvSpPr/>
          <p:nvPr/>
        </p:nvSpPr>
        <p:spPr>
          <a:xfrm>
            <a:off x="571500" y="1194345"/>
            <a:ext cx="11049000" cy="9525"/>
          </a:xfrm>
          <a:prstGeom prst="rect">
            <a:avLst/>
          </a:prstGeom>
          <a:solidFill>
            <a:srgbClr val="23355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30</TotalTime>
  <Words>1321</Words>
  <Application>Microsoft Office PowerPoint</Application>
  <PresentationFormat>Widescreen</PresentationFormat>
  <Paragraphs>181</Paragraphs>
  <Slides>30</Slides>
  <Notes>27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42" baseType="lpstr">
      <vt:lpstr>Merriweather Light</vt:lpstr>
      <vt:lpstr>Bahnschrift SemiBold SemiConden</vt:lpstr>
      <vt:lpstr>Calibri</vt:lpstr>
      <vt:lpstr>Merriweather</vt:lpstr>
      <vt:lpstr>Poppins</vt:lpstr>
      <vt:lpstr>DM Sans</vt:lpstr>
      <vt:lpstr>Baskerville Old Face</vt:lpstr>
      <vt:lpstr>Lato Light</vt:lpstr>
      <vt:lpstr>Lato</vt:lpstr>
      <vt:lpstr>Poppins Medium</vt:lpstr>
      <vt:lpstr>Arial</vt:lpstr>
      <vt:lpstr>Office Theme</vt:lpstr>
      <vt:lpstr>Introduction to Bioinformatics for Life Sciences </vt:lpstr>
      <vt:lpstr>Welcome to Shivani_Bioinfo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shiva pawar</cp:lastModifiedBy>
  <cp:revision>5</cp:revision>
  <dcterms:modified xsi:type="dcterms:W3CDTF">2026-06-06T13:11:16Z</dcterms:modified>
</cp:coreProperties>
</file>